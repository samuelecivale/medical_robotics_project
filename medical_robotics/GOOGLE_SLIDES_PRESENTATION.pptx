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I'll present a Unity-based simulation of a ROSA-like surgical robot implementing double Remote-Center-of-Motion control, inspired by Aghakhani et al., ICRA 2013. I'll walk through the clinical motivation, the controller, the simulation, and the validation evidence -- all from data I logged and analyzed myself.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minimally invasive neurosurgery -- biopsy, electrode placement -- the surgeon plans one entry point and one deep target from imaging. The instrument must pass through that entry point without levering against the skull. This single constraint is the whole motivation for what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RCM is a virtual pivot -- the tool axis always passes through it, even though no mechanical hinge exists there. Here it's realized purely through control: lambda is a scalar that slides a point along the needle shaft, and the controller forces that point to coincide with the entry marker.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an RCM constraint, nothing stops the shaft from pushing sideways against the skull as the arm reconfigures. With the RCM formulated as an extra task stacked alongside the tip task, the robot reaches the target and keeps the pivot locked at the entry simultaneously -- this project adds a twist: in some modes the effective RCM is relocated to the target itself, the double-RCM idea in the title.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going into detail, here's the project in four numbers: a procedural six-degree-of-freedom ROSA-like arm, four selectable task modes, one hand-written damped-least-squares controller -- no external IK library -- and nine out of nine automatic validation checks passed on the logged session, which I'll detail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modes are implemented in the current controller -- I verified this directly in the code, not just in old plots. Task 1 and Task 3 both anchor the RCM at the entry; Task 2 and Task 4 explore a cone of motion around a pivot, with the pivot location swapped between the two. Task 3 is the realistic surgical sequence and the one I'll detail 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3 is a three-phase state machine mirroring the clinical sequence: align and approach, pierce the trocar, then insert with the RCM constraint active. The plot underneath shows the tip's distance from the planned straight entry-target line: it starts near 400 mm while the arm is still approaching, then collapses to essentially zero once the tip reaches the trocar -- meaning the needle travels along the planned corridor, not an arbitrary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control step stacks the active point-tasks -- tip, cone, RCM -- into one Jacobian and solves it with a damped least-squares pseudoinverse implemented from scratch with a Gauss-Jordan solver. A null-space term is projected into the task Jacobian's kernel to bias the solution toward keeping joints centered and lambda near its target, without disturbing the primary tasks. Jacobians themselves are computed numerically, a deliberate simplicity trade-off that keeps the DH table easily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control law in full. The active point tasks -- tip, cone, RCM -- are stacked into one Jacobian, each weighted by a gain and clamped error. The stacked system is solved with a damped least-squares pseudoinverse: q-dot and lambda-dot equal J-transpose times the inverse of J J-transpose plus mu-squared identity, times the desired task velocity y. A null-space term is then projected into the kernel of J and added on top to bias the solution toward keeping joints centered and lambda near a target value, without disturbing the primary tasks. Finally, both joint and lambda velocities are saturated before being integrated forward in time. Every piece of this is implemented from scratch in C#, with no external IK or optimization library.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scene is generated at runtime from a single script, rather than hand-built in the editor, which keeps the project self-contained. The controller script does everything robot-related: kinematics, the control law, the insertion state machine, the on-screen overlay, and CSV logging. A separate, independent script provides a keyboard fly-camera for free inspection during recording. The screenshot is from an earlier development build, but the robot, needle, and marker visualization are representative of the current scene too.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here is data-driven. The controller logs every relevant quantity to CSV at about 20 hertz while running. A Python pipeline -- the clean analyzer, written specifically to replace an earlier version that crammed every error into one unreadable chart -- turns that log into one focused, thresholded plot per metric, plus summary tables. The plots in this deck are reused directly from that pipeline's output, not redrawn.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bar chart normalizes every automatic check against its own threshold. All nine pass. The tightest margins are the entry-RCM constraints during Task 3 insertion and Task 4 -- both around ninety percent of their ten-millimetre allowance, worth noting as a margin rather than a failure. Task 1 is essentially perfect, under two percent of its threshold.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plots validate the core neurosurgical claim for the main task. The entry-RCM error is not enforced before the tip reaches the trocar -- by design -- then converges to essentially zero once true insertion begins. The tip-to-line-distance plot is the most intuitive for a clinical audience: after the approach phase, the needle tip travels almost exactly along the planned straight corridor from entry to target.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cone tasks, zero steady-state error isn't the right expectation, since the desired point is continuously rotating. What matters is that tracking stays bounded and below threshold throughout, which both plots confirm -- with visibly less margin than the static Task 1/3 targets, consistent with tracking a moving point under a simultaneous RCM constraint being intrinsically harder.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important to state plainly what this project doesn't claim. The geometry is plausible, not an official ROSA model. There's no tissue interaction, no force control, and no active obstacle avoidance in the final build. The controller is purely kinematic, and Jacobians are numerical rather than closed-form. None of this invalidates the kinematic result -- it bounds what can be claimed from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natural next step is an analytic Jacobian, for speed and numerical robustness. Re-introducing anatomy should happen as an explicitly separate validation layer, not mixed back into the core RCM logic, exactly as the project's own documentation argues. Beyond that: real ROSA kinematic parameters if they become accessible, and validating over many randomized entry/target configurations instead of a single logged run, to get statistical rather than anecdotal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this project turns the double-RCM formulation from Aghakhani et al. into a working, validated Unity simulation -- four task modes, a from-scratch damped least-squares controller, and a full logging-and-validation pipeline. The evidence shows the RCM constraint held within the defined thresholds across every tested task. The scope was kept deliberately narrow -- kinematics, not anatomy or dynamics -- and stated as such throughout. 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78240" y="4937760"/>
            <a:ext cx="164592" cy="1463040"/>
          </a:xfrm>
          <a:prstGeom prst="roundRect">
            <a:avLst>
              <a:gd name="adj" fmla="val 8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78240" y="4206240"/>
            <a:ext cx="2377440" cy="164592"/>
          </a:xfrm>
          <a:prstGeom prst="roundRect">
            <a:avLst>
              <a:gd name="adj" fmla="val 8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3108960"/>
            <a:ext cx="164592" cy="1280160"/>
          </a:xfrm>
          <a:prstGeom prst="roundRect">
            <a:avLst>
              <a:gd name="adj" fmla="val 8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2788920"/>
            <a:ext cx="640080" cy="640080"/>
          </a:xfrm>
          <a:prstGeom prst="ellipse">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48840"/>
            <a:ext cx="7315200" cy="365760"/>
          </a:xfrm>
          <a:prstGeom prst="rect">
            <a:avLst/>
          </a:prstGeom>
          <a:noFill/>
        </p:spPr>
        <p:txBody>
          <a:bodyPr wrap="square" anchor="t">
            <a:spAutoFit/>
          </a:bodyPr>
          <a:lstStyle/>
          <a:p>
            <a:pPr algn="l">
              <a:lnSpc>
                <a:spcPct val="100000"/>
              </a:lnSpc>
            </a:pPr>
            <a:r>
              <a:rPr sz="1300" b="1" i="0">
                <a:solidFill>
                  <a:srgbClr val="17C3B2"/>
                </a:solidFill>
                <a:latin typeface="Montserrat"/>
              </a:rPr>
              <a:t>MEDICAL ROBOTICS — MASTER'S PROJECT</a:t>
            </a:r>
          </a:p>
        </p:txBody>
      </p:sp>
      <p:sp>
        <p:nvSpPr>
          <p:cNvPr id="8" name="TextBox 7"/>
          <p:cNvSpPr txBox="1"/>
          <p:nvPr/>
        </p:nvSpPr>
        <p:spPr>
          <a:xfrm>
            <a:off x="548640" y="2606040"/>
            <a:ext cx="9601200" cy="1828800"/>
          </a:xfrm>
          <a:prstGeom prst="rect">
            <a:avLst/>
          </a:prstGeom>
          <a:noFill/>
        </p:spPr>
        <p:txBody>
          <a:bodyPr wrap="square" anchor="t">
            <a:spAutoFit/>
          </a:bodyPr>
          <a:lstStyle/>
          <a:p>
            <a:pPr algn="l">
              <a:lnSpc>
                <a:spcPct val="105000"/>
              </a:lnSpc>
            </a:pPr>
            <a:r>
              <a:rPr sz="4200" b="1" i="0">
                <a:solidFill>
                  <a:srgbClr val="F7FAFC"/>
                </a:solidFill>
                <a:latin typeface="Montserrat"/>
              </a:rPr>
              <a:t>Multi-RCM Kinematic Control for a</a:t>
            </a:r>
            <a:br/>
            <a:r>
              <a:t>ROSA-like Surgical Robot</a:t>
            </a:r>
          </a:p>
        </p:txBody>
      </p:sp>
      <p:sp>
        <p:nvSpPr>
          <p:cNvPr id="9" name="Rectangle 8"/>
          <p:cNvSpPr/>
          <p:nvPr/>
        </p:nvSpPr>
        <p:spPr>
          <a:xfrm>
            <a:off x="548640" y="4160520"/>
            <a:ext cx="64008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343400"/>
            <a:ext cx="8229600" cy="548640"/>
          </a:xfrm>
          <a:prstGeom prst="rect">
            <a:avLst/>
          </a:prstGeom>
          <a:noFill/>
        </p:spPr>
        <p:txBody>
          <a:bodyPr wrap="square" anchor="t">
            <a:spAutoFit/>
          </a:bodyPr>
          <a:lstStyle/>
          <a:p>
            <a:pPr algn="l">
              <a:lnSpc>
                <a:spcPct val="100000"/>
              </a:lnSpc>
            </a:pPr>
            <a:r>
              <a:rPr sz="1800" b="0" i="0">
                <a:solidFill>
                  <a:srgbClr val="5EEAD4"/>
                </a:solidFill>
                <a:latin typeface="Roboto"/>
              </a:rPr>
              <a:t>A Unity simulation of double Remote-Center-of-Motion control</a:t>
            </a:r>
          </a:p>
        </p:txBody>
      </p:sp>
      <p:sp>
        <p:nvSpPr>
          <p:cNvPr id="11" name="TextBox 10"/>
          <p:cNvSpPr txBox="1"/>
          <p:nvPr/>
        </p:nvSpPr>
        <p:spPr>
          <a:xfrm>
            <a:off x="548640" y="6309360"/>
            <a:ext cx="5486400" cy="274320"/>
          </a:xfrm>
          <a:prstGeom prst="rect">
            <a:avLst/>
          </a:prstGeom>
          <a:noFill/>
        </p:spPr>
        <p:txBody>
          <a:bodyPr wrap="square" anchor="t">
            <a:spAutoFit/>
          </a:bodyPr>
          <a:lstStyle/>
          <a:p>
            <a:pPr algn="l">
              <a:lnSpc>
                <a:spcPct val="100000"/>
              </a:lnSpc>
            </a:pPr>
            <a:r>
              <a:rPr sz="1100" b="0" i="0">
                <a:solidFill>
                  <a:srgbClr val="DCE6F2"/>
                </a:solidFill>
                <a:latin typeface="Roboto"/>
              </a:rPr>
              <a:t>Samuele Civale  ·  Medical Robotics,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01 — MOTIVATION</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One Entry Point. Zero Lateral Force.</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4937760" cy="2377440"/>
          </a:xfrm>
          <a:prstGeom prst="rect">
            <a:avLst/>
          </a:prstGeom>
          <a:noFill/>
        </p:spPr>
        <p:txBody>
          <a:bodyPr wrap="square" anchor="t">
            <a:spAutoFit/>
          </a:bodyPr>
          <a:lstStyle/>
          <a:p>
            <a:pPr algn="l">
              <a:lnSpc>
                <a:spcPct val="125000"/>
              </a:lnSpc>
            </a:pPr>
            <a:r>
              <a:rPr sz="1900" b="0" i="0">
                <a:solidFill>
                  <a:srgbClr val="0A2540"/>
                </a:solidFill>
                <a:latin typeface="Roboto"/>
              </a:rPr>
              <a:t>Stereotactic neurosurgery inserts a rigid tool through a single skull opening toward a deep target.</a:t>
            </a:r>
          </a:p>
        </p:txBody>
      </p:sp>
      <p:sp>
        <p:nvSpPr>
          <p:cNvPr id="7" name="TextBox 6"/>
          <p:cNvSpPr txBox="1"/>
          <p:nvPr/>
        </p:nvSpPr>
        <p:spPr>
          <a:xfrm>
            <a:off x="548640" y="3749039"/>
            <a:ext cx="4937760" cy="1463040"/>
          </a:xfrm>
          <a:prstGeom prst="rect">
            <a:avLst/>
          </a:prstGeom>
          <a:noFill/>
        </p:spPr>
        <p:txBody>
          <a:bodyPr wrap="square" anchor="t">
            <a:spAutoFit/>
          </a:bodyPr>
          <a:lstStyle/>
          <a:p>
            <a:pPr algn="l">
              <a:lnSpc>
                <a:spcPct val="125000"/>
              </a:lnSpc>
            </a:pPr>
            <a:r>
              <a:rPr sz="1900" b="1" i="0">
                <a:solidFill>
                  <a:srgbClr val="5B6B7F"/>
                </a:solidFill>
                <a:latin typeface="Roboto"/>
              </a:rPr>
              <a:t>Any sideways force at that opening risks tissue damage.</a:t>
            </a:r>
          </a:p>
        </p:txBody>
      </p:sp>
      <p:sp>
        <p:nvSpPr>
          <p:cNvPr id="8" name="Arc 7"/>
          <p:cNvSpPr/>
          <p:nvPr/>
        </p:nvSpPr>
        <p:spPr>
          <a:xfrm>
            <a:off x="6675120" y="1828800"/>
            <a:ext cx="4206240" cy="4206240"/>
          </a:xfrm>
          <a:prstGeom prst="arc">
            <a:avLst>
              <a:gd name="adj1" fmla="val 20000000"/>
              <a:gd name="adj2" fmla="val 34000000"/>
            </a:avLst>
          </a:prstGeom>
          <a:noFill/>
          <a:ln w="381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863840" y="2651760"/>
            <a:ext cx="256032" cy="256032"/>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92640" y="4206240"/>
            <a:ext cx="256032" cy="256032"/>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7991856" y="2779776"/>
            <a:ext cx="1828800" cy="1554480"/>
          </a:xfrm>
          <a:prstGeom prst="line">
            <a:avLst/>
          </a:prstGeom>
          <a:ln w="19050">
            <a:solidFill>
              <a:srgbClr val="5B6B7F"/>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589520" y="2971800"/>
            <a:ext cx="1371600" cy="274320"/>
          </a:xfrm>
          <a:prstGeom prst="rect">
            <a:avLst/>
          </a:prstGeom>
          <a:noFill/>
        </p:spPr>
        <p:txBody>
          <a:bodyPr wrap="square" anchor="t">
            <a:spAutoFit/>
          </a:bodyPr>
          <a:lstStyle/>
          <a:p>
            <a:pPr algn="l">
              <a:lnSpc>
                <a:spcPct val="100000"/>
              </a:lnSpc>
            </a:pPr>
            <a:r>
              <a:rPr sz="1200" b="1" i="0">
                <a:solidFill>
                  <a:srgbClr val="0A2540"/>
                </a:solidFill>
                <a:latin typeface="Roboto"/>
              </a:rPr>
              <a:t>Entry</a:t>
            </a:r>
          </a:p>
        </p:txBody>
      </p:sp>
      <p:sp>
        <p:nvSpPr>
          <p:cNvPr id="13" name="TextBox 12"/>
          <p:cNvSpPr txBox="1"/>
          <p:nvPr/>
        </p:nvSpPr>
        <p:spPr>
          <a:xfrm>
            <a:off x="9418320" y="4526280"/>
            <a:ext cx="1463040" cy="274320"/>
          </a:xfrm>
          <a:prstGeom prst="rect">
            <a:avLst/>
          </a:prstGeom>
          <a:noFill/>
        </p:spPr>
        <p:txBody>
          <a:bodyPr wrap="square" anchor="t">
            <a:spAutoFit/>
          </a:bodyPr>
          <a:lstStyle/>
          <a:p>
            <a:pPr algn="l">
              <a:lnSpc>
                <a:spcPct val="100000"/>
              </a:lnSpc>
            </a:pPr>
            <a:r>
              <a:rPr sz="1200" b="1" i="0">
                <a:solidFill>
                  <a:srgbClr val="0A2540"/>
                </a:solidFill>
                <a:latin typeface="Roboto"/>
              </a:rPr>
              <a:t>Target</a:t>
            </a:r>
          </a:p>
        </p:txBody>
      </p:sp>
      <p:sp>
        <p:nvSpPr>
          <p:cNvPr id="14" name="TextBox 13"/>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MOTIVATION</a:t>
            </a:r>
          </a:p>
        </p:txBody>
      </p:sp>
      <p:sp>
        <p:nvSpPr>
          <p:cNvPr id="15" name="TextBox 14"/>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02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02 — CONCEPT</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A Pivot Point That Isn't Physically There</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flipV="1">
            <a:off x="5097286" y="2500335"/>
            <a:ext cx="1562923" cy="1407262"/>
          </a:xfrm>
          <a:prstGeom prst="line">
            <a:avLst/>
          </a:prstGeom>
          <a:ln w="25400">
            <a:solidFill>
              <a:srgbClr val="CBD5E1"/>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785448" y="2946160"/>
            <a:ext cx="2082653" cy="292698"/>
          </a:xfrm>
          <a:prstGeom prst="line">
            <a:avLst/>
          </a:prstGeom>
          <a:ln w="25400">
            <a:solidFill>
              <a:srgbClr val="CBD5E1"/>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891395" y="2707713"/>
            <a:ext cx="1906074" cy="888817"/>
          </a:xfrm>
          <a:prstGeom prst="line">
            <a:avLst/>
          </a:prstGeom>
          <a:ln w="44450">
            <a:solidFill>
              <a:srgbClr val="0A25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5916168" y="2944368"/>
            <a:ext cx="237744" cy="237744"/>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3172968"/>
            <a:ext cx="1737360" cy="274320"/>
          </a:xfrm>
          <a:prstGeom prst="rect">
            <a:avLst/>
          </a:prstGeom>
          <a:noFill/>
        </p:spPr>
        <p:txBody>
          <a:bodyPr wrap="square" anchor="t">
            <a:spAutoFit/>
          </a:bodyPr>
          <a:lstStyle/>
          <a:p>
            <a:pPr algn="l">
              <a:lnSpc>
                <a:spcPct val="100000"/>
              </a:lnSpc>
            </a:pPr>
            <a:r>
              <a:rPr sz="1100" b="0" i="1">
                <a:solidFill>
                  <a:srgbClr val="5B6B7F"/>
                </a:solidFill>
                <a:latin typeface="Roboto"/>
              </a:rPr>
              <a:t>λ-point (RCM)</a:t>
            </a:r>
          </a:p>
        </p:txBody>
      </p:sp>
      <p:sp>
        <p:nvSpPr>
          <p:cNvPr id="11" name="Rounded Rectangle 10"/>
          <p:cNvSpPr/>
          <p:nvPr/>
        </p:nvSpPr>
        <p:spPr>
          <a:xfrm>
            <a:off x="1371600" y="4572000"/>
            <a:ext cx="9418320" cy="141732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5EEAD4"/>
                </a:solidFill>
                <a:latin typeface="Consolas"/>
              </a:rPr>
              <a:t>p_RCM(q, λ) = p_base(q) + λ · L · z(q)</a:t>
            </a:r>
          </a:p>
        </p:txBody>
      </p:sp>
      <p:sp>
        <p:nvSpPr>
          <p:cNvPr id="12" name="TextBox 11"/>
          <p:cNvSpPr txBox="1"/>
          <p:nvPr/>
        </p:nvSpPr>
        <p:spPr>
          <a:xfrm>
            <a:off x="1371600" y="5989320"/>
            <a:ext cx="9418320" cy="365760"/>
          </a:xfrm>
          <a:prstGeom prst="rect">
            <a:avLst/>
          </a:prstGeom>
          <a:noFill/>
        </p:spPr>
        <p:txBody>
          <a:bodyPr wrap="square" anchor="t">
            <a:spAutoFit/>
          </a:bodyPr>
          <a:lstStyle/>
          <a:p>
            <a:pPr algn="ctr">
              <a:lnSpc>
                <a:spcPct val="100000"/>
              </a:lnSpc>
            </a:pPr>
            <a:r>
              <a:rPr sz="1300" b="0" i="1">
                <a:solidFill>
                  <a:srgbClr val="5B6B7F"/>
                </a:solidFill>
                <a:latin typeface="Roboto"/>
              </a:rPr>
              <a:t>λ slides the RCM point along the tool shaft as insertion depth changes.</a:t>
            </a:r>
          </a:p>
        </p:txBody>
      </p:sp>
      <p:sp>
        <p:nvSpPr>
          <p:cNvPr id="13" name="TextBox 12"/>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CONCEPT</a:t>
            </a:r>
          </a:p>
        </p:txBody>
      </p:sp>
      <p:sp>
        <p:nvSpPr>
          <p:cNvPr id="14" name="TextBox 13"/>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03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03 — WHY IT MATTERS</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Constraining the Pivot Changes Everything</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920240"/>
            <a:ext cx="5349240" cy="4023360"/>
          </a:xfrm>
          <a:prstGeom prst="roundRect">
            <a:avLst>
              <a:gd name="adj" fmla="val 6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286000"/>
            <a:ext cx="640080" cy="640080"/>
          </a:xfrm>
          <a:prstGeom prst="ellipse">
            <a:avLst/>
          </a:prstGeom>
          <a:solidFill>
            <a:srgbClr val="F4A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a:t>
            </a:r>
          </a:p>
        </p:txBody>
      </p:sp>
      <p:sp>
        <p:nvSpPr>
          <p:cNvPr id="8" name="TextBox 7"/>
          <p:cNvSpPr txBox="1"/>
          <p:nvPr/>
        </p:nvSpPr>
        <p:spPr>
          <a:xfrm>
            <a:off x="914400" y="3108960"/>
            <a:ext cx="4572000" cy="457200"/>
          </a:xfrm>
          <a:prstGeom prst="rect">
            <a:avLst/>
          </a:prstGeom>
          <a:noFill/>
        </p:spPr>
        <p:txBody>
          <a:bodyPr wrap="square" anchor="t">
            <a:spAutoFit/>
          </a:bodyPr>
          <a:lstStyle/>
          <a:p>
            <a:pPr algn="l">
              <a:lnSpc>
                <a:spcPct val="100000"/>
              </a:lnSpc>
            </a:pPr>
            <a:r>
              <a:rPr sz="2000" b="1" i="0">
                <a:solidFill>
                  <a:srgbClr val="0A2540"/>
                </a:solidFill>
                <a:latin typeface="Montserrat"/>
              </a:rPr>
              <a:t>Without RCM</a:t>
            </a:r>
          </a:p>
        </p:txBody>
      </p:sp>
      <p:sp>
        <p:nvSpPr>
          <p:cNvPr id="9" name="TextBox 8"/>
          <p:cNvSpPr txBox="1"/>
          <p:nvPr/>
        </p:nvSpPr>
        <p:spPr>
          <a:xfrm>
            <a:off x="914400" y="3657600"/>
            <a:ext cx="4572000" cy="1645920"/>
          </a:xfrm>
          <a:prstGeom prst="rect">
            <a:avLst/>
          </a:prstGeom>
          <a:noFill/>
        </p:spPr>
        <p:txBody>
          <a:bodyPr wrap="square" anchor="t">
            <a:spAutoFit/>
          </a:bodyPr>
          <a:lstStyle/>
          <a:p>
            <a:pPr algn="l">
              <a:lnSpc>
                <a:spcPct val="130000"/>
              </a:lnSpc>
            </a:pPr>
            <a:r>
              <a:rPr sz="1500" b="0" i="0">
                <a:solidFill>
                  <a:srgbClr val="5B6B7F"/>
                </a:solidFill>
                <a:latin typeface="Roboto"/>
              </a:rPr>
              <a:t>Shaft levers against the entry point</a:t>
            </a:r>
            <a:br/>
            <a:r>
              <a:t>as the arm reconfigures → lateral</a:t>
            </a:r>
            <a:br/>
            <a:r>
              <a:t>tissue load at the skull surface.</a:t>
            </a:r>
          </a:p>
        </p:txBody>
      </p:sp>
      <p:sp>
        <p:nvSpPr>
          <p:cNvPr id="10" name="Rounded Rectangle 9"/>
          <p:cNvSpPr/>
          <p:nvPr/>
        </p:nvSpPr>
        <p:spPr>
          <a:xfrm>
            <a:off x="6263640" y="1920240"/>
            <a:ext cx="5349240" cy="4023360"/>
          </a:xfrm>
          <a:prstGeom prst="roundRect">
            <a:avLst>
              <a:gd name="adj" fmla="val 6000"/>
            </a:avLst>
          </a:prstGeom>
          <a:solidFill>
            <a:srgbClr val="E6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29400" y="2286000"/>
            <a:ext cx="640080" cy="640080"/>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a:t>
            </a:r>
          </a:p>
        </p:txBody>
      </p:sp>
      <p:sp>
        <p:nvSpPr>
          <p:cNvPr id="12" name="TextBox 11"/>
          <p:cNvSpPr txBox="1"/>
          <p:nvPr/>
        </p:nvSpPr>
        <p:spPr>
          <a:xfrm>
            <a:off x="6629400" y="3108960"/>
            <a:ext cx="4572000" cy="457200"/>
          </a:xfrm>
          <a:prstGeom prst="rect">
            <a:avLst/>
          </a:prstGeom>
          <a:noFill/>
        </p:spPr>
        <p:txBody>
          <a:bodyPr wrap="square" anchor="t">
            <a:spAutoFit/>
          </a:bodyPr>
          <a:lstStyle/>
          <a:p>
            <a:pPr algn="l">
              <a:lnSpc>
                <a:spcPct val="100000"/>
              </a:lnSpc>
            </a:pPr>
            <a:r>
              <a:rPr sz="2000" b="1" i="0">
                <a:solidFill>
                  <a:srgbClr val="0A2540"/>
                </a:solidFill>
                <a:latin typeface="Montserrat"/>
              </a:rPr>
              <a:t>With RCM</a:t>
            </a:r>
          </a:p>
        </p:txBody>
      </p:sp>
      <p:sp>
        <p:nvSpPr>
          <p:cNvPr id="13" name="TextBox 12"/>
          <p:cNvSpPr txBox="1"/>
          <p:nvPr/>
        </p:nvSpPr>
        <p:spPr>
          <a:xfrm>
            <a:off x="6629400" y="3657600"/>
            <a:ext cx="4572000" cy="1645920"/>
          </a:xfrm>
          <a:prstGeom prst="rect">
            <a:avLst/>
          </a:prstGeom>
          <a:noFill/>
        </p:spPr>
        <p:txBody>
          <a:bodyPr wrap="square" anchor="t">
            <a:spAutoFit/>
          </a:bodyPr>
          <a:lstStyle/>
          <a:p>
            <a:pPr algn="l">
              <a:lnSpc>
                <a:spcPct val="130000"/>
              </a:lnSpc>
            </a:pPr>
            <a:r>
              <a:rPr sz="1500" b="0" i="0">
                <a:solidFill>
                  <a:srgbClr val="5B6B7F"/>
                </a:solidFill>
                <a:latin typeface="Roboto"/>
              </a:rPr>
              <a:t>Tip reaches the target while the</a:t>
            </a:r>
            <a:br/>
            <a:r>
              <a:t>shaft pivots cleanly through the</a:t>
            </a:r>
            <a:br/>
            <a:r>
              <a:t>entry point, simultaneously.</a:t>
            </a:r>
          </a:p>
        </p:txBody>
      </p:sp>
      <p:sp>
        <p:nvSpPr>
          <p:cNvPr id="14" name="TextBox 13"/>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WHY IT MATTERS</a:t>
            </a:r>
          </a:p>
        </p:txBody>
      </p:sp>
      <p:sp>
        <p:nvSpPr>
          <p:cNvPr id="15" name="TextBox 14"/>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04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5EEAD4"/>
                </a:solidFill>
                <a:latin typeface="Montserrat"/>
              </a:rPr>
              <a:t>04 — OVERVIEW</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F7FAFC"/>
                </a:solidFill>
                <a:latin typeface="Montserrat"/>
              </a:rPr>
              <a:t>Project at a Glance</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377440"/>
            <a:ext cx="2542032" cy="2926080"/>
          </a:xfrm>
          <a:prstGeom prst="roundRect">
            <a:avLst>
              <a:gd name="adj" fmla="val 8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880360"/>
            <a:ext cx="2542032" cy="1005840"/>
          </a:xfrm>
          <a:prstGeom prst="rect">
            <a:avLst/>
          </a:prstGeom>
          <a:noFill/>
        </p:spPr>
        <p:txBody>
          <a:bodyPr wrap="square" anchor="t">
            <a:spAutoFit/>
          </a:bodyPr>
          <a:lstStyle/>
          <a:p>
            <a:pPr algn="ctr">
              <a:lnSpc>
                <a:spcPct val="100000"/>
              </a:lnSpc>
            </a:pPr>
            <a:r>
              <a:rPr sz="4400" b="1" i="0">
                <a:solidFill>
                  <a:srgbClr val="5EEAD4"/>
                </a:solidFill>
                <a:latin typeface="Montserrat"/>
              </a:rPr>
              <a:t>6</a:t>
            </a:r>
          </a:p>
        </p:txBody>
      </p:sp>
      <p:sp>
        <p:nvSpPr>
          <p:cNvPr id="8" name="TextBox 7"/>
          <p:cNvSpPr txBox="1"/>
          <p:nvPr/>
        </p:nvSpPr>
        <p:spPr>
          <a:xfrm>
            <a:off x="731520" y="3977639"/>
            <a:ext cx="2176272" cy="1097280"/>
          </a:xfrm>
          <a:prstGeom prst="rect">
            <a:avLst/>
          </a:prstGeom>
          <a:noFill/>
        </p:spPr>
        <p:txBody>
          <a:bodyPr wrap="square" anchor="t">
            <a:spAutoFit/>
          </a:bodyPr>
          <a:lstStyle/>
          <a:p>
            <a:pPr algn="ctr">
              <a:lnSpc>
                <a:spcPct val="120000"/>
              </a:lnSpc>
            </a:pPr>
            <a:r>
              <a:rPr sz="1400" b="0" i="0">
                <a:solidFill>
                  <a:srgbClr val="DCE6F2"/>
                </a:solidFill>
                <a:latin typeface="Roboto"/>
              </a:rPr>
              <a:t>DOF procedural arm</a:t>
            </a:r>
          </a:p>
        </p:txBody>
      </p:sp>
      <p:sp>
        <p:nvSpPr>
          <p:cNvPr id="9" name="Rounded Rectangle 8"/>
          <p:cNvSpPr/>
          <p:nvPr/>
        </p:nvSpPr>
        <p:spPr>
          <a:xfrm>
            <a:off x="3319272" y="2377440"/>
            <a:ext cx="2542032" cy="2926080"/>
          </a:xfrm>
          <a:prstGeom prst="roundRect">
            <a:avLst>
              <a:gd name="adj" fmla="val 8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9272" y="2880360"/>
            <a:ext cx="2542032" cy="1005840"/>
          </a:xfrm>
          <a:prstGeom prst="rect">
            <a:avLst/>
          </a:prstGeom>
          <a:noFill/>
        </p:spPr>
        <p:txBody>
          <a:bodyPr wrap="square" anchor="t">
            <a:spAutoFit/>
          </a:bodyPr>
          <a:lstStyle/>
          <a:p>
            <a:pPr algn="ctr">
              <a:lnSpc>
                <a:spcPct val="100000"/>
              </a:lnSpc>
            </a:pPr>
            <a:r>
              <a:rPr sz="4400" b="1" i="0">
                <a:solidFill>
                  <a:srgbClr val="5EEAD4"/>
                </a:solidFill>
                <a:latin typeface="Montserrat"/>
              </a:rPr>
              <a:t>4</a:t>
            </a:r>
          </a:p>
        </p:txBody>
      </p:sp>
      <p:sp>
        <p:nvSpPr>
          <p:cNvPr id="11" name="TextBox 10"/>
          <p:cNvSpPr txBox="1"/>
          <p:nvPr/>
        </p:nvSpPr>
        <p:spPr>
          <a:xfrm>
            <a:off x="3502152" y="3977639"/>
            <a:ext cx="2176272" cy="1097280"/>
          </a:xfrm>
          <a:prstGeom prst="rect">
            <a:avLst/>
          </a:prstGeom>
          <a:noFill/>
        </p:spPr>
        <p:txBody>
          <a:bodyPr wrap="square" anchor="t">
            <a:spAutoFit/>
          </a:bodyPr>
          <a:lstStyle/>
          <a:p>
            <a:pPr algn="ctr">
              <a:lnSpc>
                <a:spcPct val="120000"/>
              </a:lnSpc>
            </a:pPr>
            <a:r>
              <a:rPr sz="1400" b="0" i="0">
                <a:solidFill>
                  <a:srgbClr val="DCE6F2"/>
                </a:solidFill>
                <a:latin typeface="Roboto"/>
              </a:rPr>
              <a:t>Task modes</a:t>
            </a:r>
          </a:p>
        </p:txBody>
      </p:sp>
      <p:sp>
        <p:nvSpPr>
          <p:cNvPr id="12" name="Rounded Rectangle 11"/>
          <p:cNvSpPr/>
          <p:nvPr/>
        </p:nvSpPr>
        <p:spPr>
          <a:xfrm>
            <a:off x="6089903" y="2377440"/>
            <a:ext cx="2542032" cy="2926080"/>
          </a:xfrm>
          <a:prstGeom prst="roundRect">
            <a:avLst>
              <a:gd name="adj" fmla="val 8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9903" y="2880360"/>
            <a:ext cx="2542032" cy="1005840"/>
          </a:xfrm>
          <a:prstGeom prst="rect">
            <a:avLst/>
          </a:prstGeom>
          <a:noFill/>
        </p:spPr>
        <p:txBody>
          <a:bodyPr wrap="square" anchor="t">
            <a:spAutoFit/>
          </a:bodyPr>
          <a:lstStyle/>
          <a:p>
            <a:pPr algn="ctr">
              <a:lnSpc>
                <a:spcPct val="100000"/>
              </a:lnSpc>
            </a:pPr>
            <a:r>
              <a:rPr sz="4400" b="1" i="0">
                <a:solidFill>
                  <a:srgbClr val="5EEAD4"/>
                </a:solidFill>
                <a:latin typeface="Montserrat"/>
              </a:rPr>
              <a:t>1</a:t>
            </a:r>
          </a:p>
        </p:txBody>
      </p:sp>
      <p:sp>
        <p:nvSpPr>
          <p:cNvPr id="14" name="TextBox 13"/>
          <p:cNvSpPr txBox="1"/>
          <p:nvPr/>
        </p:nvSpPr>
        <p:spPr>
          <a:xfrm>
            <a:off x="6272783" y="3977639"/>
            <a:ext cx="2176272" cy="1097280"/>
          </a:xfrm>
          <a:prstGeom prst="rect">
            <a:avLst/>
          </a:prstGeom>
          <a:noFill/>
        </p:spPr>
        <p:txBody>
          <a:bodyPr wrap="square" anchor="t">
            <a:spAutoFit/>
          </a:bodyPr>
          <a:lstStyle/>
          <a:p>
            <a:pPr algn="ctr">
              <a:lnSpc>
                <a:spcPct val="120000"/>
              </a:lnSpc>
            </a:pPr>
            <a:r>
              <a:rPr sz="1400" b="0" i="0">
                <a:solidFill>
                  <a:srgbClr val="DCE6F2"/>
                </a:solidFill>
                <a:latin typeface="Roboto"/>
              </a:rPr>
              <a:t>Controller, built from scratch</a:t>
            </a:r>
          </a:p>
        </p:txBody>
      </p:sp>
      <p:sp>
        <p:nvSpPr>
          <p:cNvPr id="15" name="Rounded Rectangle 14"/>
          <p:cNvSpPr/>
          <p:nvPr/>
        </p:nvSpPr>
        <p:spPr>
          <a:xfrm>
            <a:off x="8860536" y="2377440"/>
            <a:ext cx="2542032" cy="2926080"/>
          </a:xfrm>
          <a:prstGeom prst="roundRect">
            <a:avLst>
              <a:gd name="adj" fmla="val 8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0536" y="2880360"/>
            <a:ext cx="2542032" cy="1005840"/>
          </a:xfrm>
          <a:prstGeom prst="rect">
            <a:avLst/>
          </a:prstGeom>
          <a:noFill/>
        </p:spPr>
        <p:txBody>
          <a:bodyPr wrap="square" anchor="t">
            <a:spAutoFit/>
          </a:bodyPr>
          <a:lstStyle/>
          <a:p>
            <a:pPr algn="ctr">
              <a:lnSpc>
                <a:spcPct val="100000"/>
              </a:lnSpc>
            </a:pPr>
            <a:r>
              <a:rPr sz="4400" b="1" i="0">
                <a:solidFill>
                  <a:srgbClr val="5EEAD4"/>
                </a:solidFill>
                <a:latin typeface="Montserrat"/>
              </a:rPr>
              <a:t>9 / 9</a:t>
            </a:r>
          </a:p>
        </p:txBody>
      </p:sp>
      <p:sp>
        <p:nvSpPr>
          <p:cNvPr id="17" name="TextBox 16"/>
          <p:cNvSpPr txBox="1"/>
          <p:nvPr/>
        </p:nvSpPr>
        <p:spPr>
          <a:xfrm>
            <a:off x="9043415" y="3977639"/>
            <a:ext cx="2176272" cy="1097280"/>
          </a:xfrm>
          <a:prstGeom prst="rect">
            <a:avLst/>
          </a:prstGeom>
          <a:noFill/>
        </p:spPr>
        <p:txBody>
          <a:bodyPr wrap="square" anchor="t">
            <a:spAutoFit/>
          </a:bodyPr>
          <a:lstStyle/>
          <a:p>
            <a:pPr algn="ctr">
              <a:lnSpc>
                <a:spcPct val="120000"/>
              </a:lnSpc>
            </a:pPr>
            <a:r>
              <a:rPr sz="1400" b="0" i="0">
                <a:solidFill>
                  <a:srgbClr val="DCE6F2"/>
                </a:solidFill>
                <a:latin typeface="Roboto"/>
              </a:rPr>
              <a:t>Validation checks passed</a:t>
            </a:r>
          </a:p>
        </p:txBody>
      </p:sp>
      <p:sp>
        <p:nvSpPr>
          <p:cNvPr id="18" name="TextBox 17"/>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DCE6F2"/>
                </a:solidFill>
                <a:latin typeface="Montserrat"/>
              </a:rPr>
              <a:t>OVERVIEW</a:t>
            </a:r>
          </a:p>
        </p:txBody>
      </p:sp>
      <p:sp>
        <p:nvSpPr>
          <p:cNvPr id="19" name="TextBox 18"/>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DCE6F2"/>
                </a:solidFill>
                <a:latin typeface="Montserrat"/>
              </a:rPr>
              <a:t>05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05 — TASKS</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Four Tasks, One Controller</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965960"/>
            <a:ext cx="5349240" cy="1965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65960"/>
            <a:ext cx="5349240" cy="1965960"/>
          </a:xfrm>
          <a:prstGeom prst="roundRect">
            <a:avLst>
              <a:gd name="adj" fmla="val 8000"/>
            </a:avLst>
          </a:prstGeom>
          <a:noFill/>
          <a:ln w="12700">
            <a:solidFill>
              <a:srgbClr val="12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2286000"/>
            <a:ext cx="594360" cy="594360"/>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a:t>
            </a:r>
          </a:p>
        </p:txBody>
      </p:sp>
      <p:sp>
        <p:nvSpPr>
          <p:cNvPr id="9" name="TextBox 8"/>
          <p:cNvSpPr txBox="1"/>
          <p:nvPr/>
        </p:nvSpPr>
        <p:spPr>
          <a:xfrm>
            <a:off x="1600200" y="2258568"/>
            <a:ext cx="4069079" cy="365760"/>
          </a:xfrm>
          <a:prstGeom prst="rect">
            <a:avLst/>
          </a:prstGeom>
          <a:noFill/>
        </p:spPr>
        <p:txBody>
          <a:bodyPr wrap="square" anchor="t">
            <a:spAutoFit/>
          </a:bodyPr>
          <a:lstStyle/>
          <a:p>
            <a:pPr algn="l">
              <a:lnSpc>
                <a:spcPct val="100000"/>
              </a:lnSpc>
            </a:pPr>
            <a:r>
              <a:rPr sz="1400" b="1" i="0">
                <a:solidFill>
                  <a:srgbClr val="17C3B2"/>
                </a:solidFill>
                <a:latin typeface="Montserrat"/>
              </a:rPr>
              <a:t>Task 1</a:t>
            </a:r>
          </a:p>
        </p:txBody>
      </p:sp>
      <p:sp>
        <p:nvSpPr>
          <p:cNvPr id="10" name="TextBox 9"/>
          <p:cNvSpPr txBox="1"/>
          <p:nvPr/>
        </p:nvSpPr>
        <p:spPr>
          <a:xfrm>
            <a:off x="1600200" y="2606039"/>
            <a:ext cx="4069079" cy="914400"/>
          </a:xfrm>
          <a:prstGeom prst="rect">
            <a:avLst/>
          </a:prstGeom>
          <a:noFill/>
        </p:spPr>
        <p:txBody>
          <a:bodyPr wrap="square" anchor="t">
            <a:spAutoFit/>
          </a:bodyPr>
          <a:lstStyle/>
          <a:p>
            <a:pPr algn="l">
              <a:lnSpc>
                <a:spcPct val="120000"/>
              </a:lnSpc>
            </a:pPr>
            <a:r>
              <a:rPr sz="1600" b="0" i="0">
                <a:solidFill>
                  <a:srgbClr val="0A2540"/>
                </a:solidFill>
                <a:latin typeface="Roboto"/>
              </a:rPr>
              <a:t>Entry-RCM + Tip Target</a:t>
            </a:r>
          </a:p>
        </p:txBody>
      </p:sp>
      <p:sp>
        <p:nvSpPr>
          <p:cNvPr id="11" name="Rounded Rectangle 10"/>
          <p:cNvSpPr/>
          <p:nvPr/>
        </p:nvSpPr>
        <p:spPr>
          <a:xfrm>
            <a:off x="6172199" y="1965960"/>
            <a:ext cx="5349240" cy="1965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199" y="1965960"/>
            <a:ext cx="5349240" cy="1965960"/>
          </a:xfrm>
          <a:prstGeom prst="roundRect">
            <a:avLst>
              <a:gd name="adj" fmla="val 8000"/>
            </a:avLst>
          </a:prstGeom>
          <a:noFill/>
          <a:ln w="12700">
            <a:solidFill>
              <a:srgbClr val="12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19" y="2286000"/>
            <a:ext cx="594360" cy="594360"/>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a:t>
            </a:r>
          </a:p>
        </p:txBody>
      </p:sp>
      <p:sp>
        <p:nvSpPr>
          <p:cNvPr id="14" name="TextBox 13"/>
          <p:cNvSpPr txBox="1"/>
          <p:nvPr/>
        </p:nvSpPr>
        <p:spPr>
          <a:xfrm>
            <a:off x="7223759" y="2258568"/>
            <a:ext cx="4069079" cy="365760"/>
          </a:xfrm>
          <a:prstGeom prst="rect">
            <a:avLst/>
          </a:prstGeom>
          <a:noFill/>
        </p:spPr>
        <p:txBody>
          <a:bodyPr wrap="square" anchor="t">
            <a:spAutoFit/>
          </a:bodyPr>
          <a:lstStyle/>
          <a:p>
            <a:pPr algn="l">
              <a:lnSpc>
                <a:spcPct val="100000"/>
              </a:lnSpc>
            </a:pPr>
            <a:r>
              <a:rPr sz="1400" b="1" i="0">
                <a:solidFill>
                  <a:srgbClr val="17C3B2"/>
                </a:solidFill>
                <a:latin typeface="Montserrat"/>
              </a:rPr>
              <a:t>Task 2</a:t>
            </a:r>
          </a:p>
        </p:txBody>
      </p:sp>
      <p:sp>
        <p:nvSpPr>
          <p:cNvPr id="15" name="TextBox 14"/>
          <p:cNvSpPr txBox="1"/>
          <p:nvPr/>
        </p:nvSpPr>
        <p:spPr>
          <a:xfrm>
            <a:off x="7223759" y="2606039"/>
            <a:ext cx="4069079" cy="914400"/>
          </a:xfrm>
          <a:prstGeom prst="rect">
            <a:avLst/>
          </a:prstGeom>
          <a:noFill/>
        </p:spPr>
        <p:txBody>
          <a:bodyPr wrap="square" anchor="t">
            <a:spAutoFit/>
          </a:bodyPr>
          <a:lstStyle/>
          <a:p>
            <a:pPr algn="l">
              <a:lnSpc>
                <a:spcPct val="120000"/>
              </a:lnSpc>
            </a:pPr>
            <a:r>
              <a:rPr sz="1600" b="0" i="0">
                <a:solidFill>
                  <a:srgbClr val="0A2540"/>
                </a:solidFill>
                <a:latin typeface="Roboto"/>
              </a:rPr>
              <a:t>Target-RCM + Entry-Side Cone</a:t>
            </a:r>
          </a:p>
        </p:txBody>
      </p:sp>
      <p:sp>
        <p:nvSpPr>
          <p:cNvPr id="16" name="Rounded Rectangle 15"/>
          <p:cNvSpPr/>
          <p:nvPr/>
        </p:nvSpPr>
        <p:spPr>
          <a:xfrm>
            <a:off x="548640" y="4160520"/>
            <a:ext cx="5349240" cy="1965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4160520"/>
            <a:ext cx="5349240" cy="1965960"/>
          </a:xfrm>
          <a:prstGeom prst="roundRect">
            <a:avLst>
              <a:gd name="adj" fmla="val 8000"/>
            </a:avLst>
          </a:prstGeom>
          <a:noFill/>
          <a:ln w="12700">
            <a:solidFill>
              <a:srgbClr val="12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59" y="4480559"/>
            <a:ext cx="594360" cy="594360"/>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a:t>
            </a:r>
          </a:p>
        </p:txBody>
      </p:sp>
      <p:sp>
        <p:nvSpPr>
          <p:cNvPr id="19" name="TextBox 18"/>
          <p:cNvSpPr txBox="1"/>
          <p:nvPr/>
        </p:nvSpPr>
        <p:spPr>
          <a:xfrm>
            <a:off x="1600200" y="4453128"/>
            <a:ext cx="4069079" cy="365760"/>
          </a:xfrm>
          <a:prstGeom prst="rect">
            <a:avLst/>
          </a:prstGeom>
          <a:noFill/>
        </p:spPr>
        <p:txBody>
          <a:bodyPr wrap="square" anchor="t">
            <a:spAutoFit/>
          </a:bodyPr>
          <a:lstStyle/>
          <a:p>
            <a:pPr algn="l">
              <a:lnSpc>
                <a:spcPct val="100000"/>
              </a:lnSpc>
            </a:pPr>
            <a:r>
              <a:rPr sz="1400" b="1" i="0">
                <a:solidFill>
                  <a:srgbClr val="17C3B2"/>
                </a:solidFill>
                <a:latin typeface="Montserrat"/>
              </a:rPr>
              <a:t>Task 3</a:t>
            </a:r>
          </a:p>
        </p:txBody>
      </p:sp>
      <p:sp>
        <p:nvSpPr>
          <p:cNvPr id="20" name="TextBox 19"/>
          <p:cNvSpPr txBox="1"/>
          <p:nvPr/>
        </p:nvSpPr>
        <p:spPr>
          <a:xfrm>
            <a:off x="1600200" y="4800600"/>
            <a:ext cx="4069079" cy="914400"/>
          </a:xfrm>
          <a:prstGeom prst="rect">
            <a:avLst/>
          </a:prstGeom>
          <a:noFill/>
        </p:spPr>
        <p:txBody>
          <a:bodyPr wrap="square" anchor="t">
            <a:spAutoFit/>
          </a:bodyPr>
          <a:lstStyle/>
          <a:p>
            <a:pPr algn="l">
              <a:lnSpc>
                <a:spcPct val="120000"/>
              </a:lnSpc>
            </a:pPr>
            <a:r>
              <a:rPr sz="1600" b="0" i="0">
                <a:solidFill>
                  <a:srgbClr val="0A2540"/>
                </a:solidFill>
                <a:latin typeface="Roboto"/>
              </a:rPr>
              <a:t>Insertion Sequence (main task)</a:t>
            </a:r>
          </a:p>
        </p:txBody>
      </p:sp>
      <p:sp>
        <p:nvSpPr>
          <p:cNvPr id="21" name="Rounded Rectangle 20"/>
          <p:cNvSpPr/>
          <p:nvPr/>
        </p:nvSpPr>
        <p:spPr>
          <a:xfrm>
            <a:off x="6172199" y="4160520"/>
            <a:ext cx="5349240" cy="1965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72199" y="4160520"/>
            <a:ext cx="5349240" cy="1965960"/>
          </a:xfrm>
          <a:prstGeom prst="roundRect">
            <a:avLst>
              <a:gd name="adj" fmla="val 8000"/>
            </a:avLst>
          </a:prstGeom>
          <a:noFill/>
          <a:ln w="12700">
            <a:solidFill>
              <a:srgbClr val="12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46519" y="4480559"/>
            <a:ext cx="594360" cy="594360"/>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a:t>
            </a:r>
          </a:p>
        </p:txBody>
      </p:sp>
      <p:sp>
        <p:nvSpPr>
          <p:cNvPr id="24" name="TextBox 23"/>
          <p:cNvSpPr txBox="1"/>
          <p:nvPr/>
        </p:nvSpPr>
        <p:spPr>
          <a:xfrm>
            <a:off x="7223759" y="4453128"/>
            <a:ext cx="4069079" cy="365760"/>
          </a:xfrm>
          <a:prstGeom prst="rect">
            <a:avLst/>
          </a:prstGeom>
          <a:noFill/>
        </p:spPr>
        <p:txBody>
          <a:bodyPr wrap="square" anchor="t">
            <a:spAutoFit/>
          </a:bodyPr>
          <a:lstStyle/>
          <a:p>
            <a:pPr algn="l">
              <a:lnSpc>
                <a:spcPct val="100000"/>
              </a:lnSpc>
            </a:pPr>
            <a:r>
              <a:rPr sz="1400" b="1" i="0">
                <a:solidFill>
                  <a:srgbClr val="17C3B2"/>
                </a:solidFill>
                <a:latin typeface="Montserrat"/>
              </a:rPr>
              <a:t>Task 4</a:t>
            </a:r>
          </a:p>
        </p:txBody>
      </p:sp>
      <p:sp>
        <p:nvSpPr>
          <p:cNvPr id="25" name="TextBox 24"/>
          <p:cNvSpPr txBox="1"/>
          <p:nvPr/>
        </p:nvSpPr>
        <p:spPr>
          <a:xfrm>
            <a:off x="7223759" y="4800600"/>
            <a:ext cx="4069079" cy="914400"/>
          </a:xfrm>
          <a:prstGeom prst="rect">
            <a:avLst/>
          </a:prstGeom>
          <a:noFill/>
        </p:spPr>
        <p:txBody>
          <a:bodyPr wrap="square" anchor="t">
            <a:spAutoFit/>
          </a:bodyPr>
          <a:lstStyle/>
          <a:p>
            <a:pPr algn="l">
              <a:lnSpc>
                <a:spcPct val="120000"/>
              </a:lnSpc>
            </a:pPr>
            <a:r>
              <a:rPr sz="1600" b="0" i="0">
                <a:solidFill>
                  <a:srgbClr val="0A2540"/>
                </a:solidFill>
                <a:latin typeface="Roboto"/>
              </a:rPr>
              <a:t>Entry-RCM + Tip Cone Around Target</a:t>
            </a:r>
          </a:p>
        </p:txBody>
      </p:sp>
      <p:sp>
        <p:nvSpPr>
          <p:cNvPr id="26" name="TextBox 25"/>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TASKS</a:t>
            </a:r>
          </a:p>
        </p:txBody>
      </p:sp>
      <p:sp>
        <p:nvSpPr>
          <p:cNvPr id="27" name="TextBox 26"/>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06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06 — MAIN TASK</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Inside Task 3: The Insertion Sequence</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920240"/>
            <a:ext cx="3246120" cy="118872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29968"/>
            <a:ext cx="2880360" cy="320040"/>
          </a:xfrm>
          <a:prstGeom prst="rect">
            <a:avLst/>
          </a:prstGeom>
          <a:noFill/>
        </p:spPr>
        <p:txBody>
          <a:bodyPr wrap="square" anchor="t">
            <a:spAutoFit/>
          </a:bodyPr>
          <a:lstStyle/>
          <a:p>
            <a:pPr algn="l">
              <a:lnSpc>
                <a:spcPct val="100000"/>
              </a:lnSpc>
            </a:pPr>
            <a:r>
              <a:rPr sz="1400" b="1" i="0">
                <a:solidFill>
                  <a:srgbClr val="5EEAD4"/>
                </a:solidFill>
                <a:latin typeface="Montserrat"/>
              </a:rPr>
              <a:t>ApproachEntry</a:t>
            </a:r>
          </a:p>
        </p:txBody>
      </p:sp>
      <p:sp>
        <p:nvSpPr>
          <p:cNvPr id="8" name="TextBox 7"/>
          <p:cNvSpPr txBox="1"/>
          <p:nvPr/>
        </p:nvSpPr>
        <p:spPr>
          <a:xfrm>
            <a:off x="731520" y="2359152"/>
            <a:ext cx="2880360" cy="731520"/>
          </a:xfrm>
          <a:prstGeom prst="rect">
            <a:avLst/>
          </a:prstGeom>
          <a:noFill/>
        </p:spPr>
        <p:txBody>
          <a:bodyPr wrap="square" anchor="t">
            <a:spAutoFit/>
          </a:bodyPr>
          <a:lstStyle/>
          <a:p>
            <a:pPr algn="l">
              <a:lnSpc>
                <a:spcPct val="115000"/>
              </a:lnSpc>
            </a:pPr>
            <a:r>
              <a:rPr sz="1250" b="0" i="0">
                <a:solidFill>
                  <a:srgbClr val="DCE6F2"/>
                </a:solidFill>
                <a:latin typeface="Roboto"/>
              </a:rPr>
              <a:t>Align needle axis,</a:t>
            </a:r>
            <a:br/>
            <a:r>
              <a:t>approach outside the trocar</a:t>
            </a:r>
          </a:p>
        </p:txBody>
      </p:sp>
      <p:cxnSp>
        <p:nvCxnSpPr>
          <p:cNvPr id="9" name="Connector 8"/>
          <p:cNvCxnSpPr/>
          <p:nvPr/>
        </p:nvCxnSpPr>
        <p:spPr>
          <a:xfrm>
            <a:off x="3840479" y="2514600"/>
            <a:ext cx="411480" cy="0"/>
          </a:xfrm>
          <a:prstGeom prst="line">
            <a:avLst/>
          </a:prstGeom>
          <a:ln w="38100">
            <a:solidFill>
              <a:srgbClr val="17C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97679" y="1920240"/>
            <a:ext cx="3246120" cy="118872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2029968"/>
            <a:ext cx="2880360" cy="320040"/>
          </a:xfrm>
          <a:prstGeom prst="rect">
            <a:avLst/>
          </a:prstGeom>
          <a:noFill/>
        </p:spPr>
        <p:txBody>
          <a:bodyPr wrap="square" anchor="t">
            <a:spAutoFit/>
          </a:bodyPr>
          <a:lstStyle/>
          <a:p>
            <a:pPr algn="l">
              <a:lnSpc>
                <a:spcPct val="100000"/>
              </a:lnSpc>
            </a:pPr>
            <a:r>
              <a:rPr sz="1400" b="1" i="0">
                <a:solidFill>
                  <a:srgbClr val="5EEAD4"/>
                </a:solidFill>
                <a:latin typeface="Montserrat"/>
              </a:rPr>
              <a:t>PierceEntry</a:t>
            </a:r>
          </a:p>
        </p:txBody>
      </p:sp>
      <p:sp>
        <p:nvSpPr>
          <p:cNvPr id="12" name="TextBox 11"/>
          <p:cNvSpPr txBox="1"/>
          <p:nvPr/>
        </p:nvSpPr>
        <p:spPr>
          <a:xfrm>
            <a:off x="4480559" y="2359152"/>
            <a:ext cx="2880360" cy="731520"/>
          </a:xfrm>
          <a:prstGeom prst="rect">
            <a:avLst/>
          </a:prstGeom>
          <a:noFill/>
        </p:spPr>
        <p:txBody>
          <a:bodyPr wrap="square" anchor="t">
            <a:spAutoFit/>
          </a:bodyPr>
          <a:lstStyle/>
          <a:p>
            <a:pPr algn="l">
              <a:lnSpc>
                <a:spcPct val="115000"/>
              </a:lnSpc>
            </a:pPr>
            <a:r>
              <a:rPr sz="1250" b="0" i="0">
                <a:solidFill>
                  <a:srgbClr val="DCE6F2"/>
                </a:solidFill>
                <a:latin typeface="Roboto"/>
              </a:rPr>
              <a:t>Tip travels to the</a:t>
            </a:r>
            <a:br/>
            <a:r>
              <a:t>entry point (RCM not yet active)</a:t>
            </a:r>
          </a:p>
        </p:txBody>
      </p:sp>
      <p:cxnSp>
        <p:nvCxnSpPr>
          <p:cNvPr id="13" name="Connector 12"/>
          <p:cNvCxnSpPr/>
          <p:nvPr/>
        </p:nvCxnSpPr>
        <p:spPr>
          <a:xfrm>
            <a:off x="7589520" y="2514600"/>
            <a:ext cx="411480" cy="0"/>
          </a:xfrm>
          <a:prstGeom prst="line">
            <a:avLst/>
          </a:prstGeom>
          <a:ln w="38100">
            <a:solidFill>
              <a:srgbClr val="17C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46719" y="1920240"/>
            <a:ext cx="3246120" cy="118872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2029968"/>
            <a:ext cx="2880360" cy="320040"/>
          </a:xfrm>
          <a:prstGeom prst="rect">
            <a:avLst/>
          </a:prstGeom>
          <a:noFill/>
        </p:spPr>
        <p:txBody>
          <a:bodyPr wrap="square" anchor="t">
            <a:spAutoFit/>
          </a:bodyPr>
          <a:lstStyle/>
          <a:p>
            <a:pPr algn="l">
              <a:lnSpc>
                <a:spcPct val="100000"/>
              </a:lnSpc>
            </a:pPr>
            <a:r>
              <a:rPr sz="1400" b="1" i="0">
                <a:solidFill>
                  <a:srgbClr val="5EEAD4"/>
                </a:solidFill>
                <a:latin typeface="Montserrat"/>
              </a:rPr>
              <a:t>InsertToTarget</a:t>
            </a:r>
          </a:p>
        </p:txBody>
      </p:sp>
      <p:sp>
        <p:nvSpPr>
          <p:cNvPr id="16" name="TextBox 15"/>
          <p:cNvSpPr txBox="1"/>
          <p:nvPr/>
        </p:nvSpPr>
        <p:spPr>
          <a:xfrm>
            <a:off x="8229599" y="2359152"/>
            <a:ext cx="2880360" cy="731520"/>
          </a:xfrm>
          <a:prstGeom prst="rect">
            <a:avLst/>
          </a:prstGeom>
          <a:noFill/>
        </p:spPr>
        <p:txBody>
          <a:bodyPr wrap="square" anchor="t">
            <a:spAutoFit/>
          </a:bodyPr>
          <a:lstStyle/>
          <a:p>
            <a:pPr algn="l">
              <a:lnSpc>
                <a:spcPct val="115000"/>
              </a:lnSpc>
            </a:pPr>
            <a:r>
              <a:rPr sz="1250" b="0" i="0">
                <a:solidFill>
                  <a:srgbClr val="DCE6F2"/>
                </a:solidFill>
                <a:latin typeface="Roboto"/>
              </a:rPr>
              <a:t>RCM locked at entry —</a:t>
            </a:r>
            <a:br/>
            <a:r>
              <a:t>tip advances to target</a:t>
            </a:r>
          </a:p>
        </p:txBody>
      </p:sp>
      <p:pic>
        <p:nvPicPr>
          <p:cNvPr id="17" name="Picture 16" descr="03b_T3_tip_line_distance.png"/>
          <p:cNvPicPr>
            <a:picLocks noChangeAspect="1"/>
          </p:cNvPicPr>
          <p:nvPr/>
        </p:nvPicPr>
        <p:blipFill>
          <a:blip r:embed="rId2"/>
          <a:stretch>
            <a:fillRect/>
          </a:stretch>
        </p:blipFill>
        <p:spPr>
          <a:xfrm>
            <a:off x="3169767" y="3337560"/>
            <a:ext cx="5852160" cy="2675273"/>
          </a:xfrm>
          <a:prstGeom prst="rect">
            <a:avLst/>
          </a:prstGeom>
          <a:ln w="12700">
            <a:solidFill>
              <a:srgbClr val="CBD5E1"/>
            </a:solidFill>
          </a:ln>
        </p:spPr>
      </p:pic>
      <p:sp>
        <p:nvSpPr>
          <p:cNvPr id="18" name="TextBox 17"/>
          <p:cNvSpPr txBox="1"/>
          <p:nvPr/>
        </p:nvSpPr>
        <p:spPr>
          <a:xfrm>
            <a:off x="3169767" y="6085373"/>
            <a:ext cx="5852160" cy="320040"/>
          </a:xfrm>
          <a:prstGeom prst="rect">
            <a:avLst/>
          </a:prstGeom>
          <a:noFill/>
        </p:spPr>
        <p:txBody>
          <a:bodyPr wrap="square" anchor="t">
            <a:spAutoFit/>
          </a:bodyPr>
          <a:lstStyle/>
          <a:p>
            <a:pPr algn="ctr">
              <a:lnSpc>
                <a:spcPct val="100000"/>
              </a:lnSpc>
            </a:pPr>
            <a:r>
              <a:rPr sz="1200" b="0" i="1">
                <a:solidFill>
                  <a:srgbClr val="5B6B7F"/>
                </a:solidFill>
                <a:latin typeface="Roboto"/>
              </a:rPr>
              <a:t>Tip-to-corridor distance collapses to ~0 mm once insertion begins.</a:t>
            </a:r>
          </a:p>
        </p:txBody>
      </p:sp>
      <p:sp>
        <p:nvSpPr>
          <p:cNvPr id="19" name="TextBox 18"/>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MAIN TASK</a:t>
            </a:r>
          </a:p>
        </p:txBody>
      </p:sp>
      <p:sp>
        <p:nvSpPr>
          <p:cNvPr id="20" name="TextBox 19"/>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5EEAD4"/>
                </a:solidFill>
                <a:latin typeface="Montserrat"/>
              </a:rPr>
              <a:t>07 — CONTROLLER</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F7FAFC"/>
                </a:solidFill>
                <a:latin typeface="Montserrat"/>
              </a:rPr>
              <a:t>Controller Architecture</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468880"/>
            <a:ext cx="2514600" cy="2103120"/>
          </a:xfrm>
          <a:prstGeom prst="roundRect">
            <a:avLst>
              <a:gd name="adj" fmla="val 10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651760"/>
            <a:ext cx="2185416" cy="640080"/>
          </a:xfrm>
          <a:prstGeom prst="rect">
            <a:avLst/>
          </a:prstGeom>
          <a:noFill/>
        </p:spPr>
        <p:txBody>
          <a:bodyPr wrap="square" anchor="t">
            <a:spAutoFit/>
          </a:bodyPr>
          <a:lstStyle/>
          <a:p>
            <a:pPr algn="l">
              <a:lnSpc>
                <a:spcPct val="110000"/>
              </a:lnSpc>
            </a:pPr>
            <a:r>
              <a:rPr sz="1500" b="1" i="0">
                <a:solidFill>
                  <a:srgbClr val="5EEAD4"/>
                </a:solidFill>
                <a:latin typeface="Montserrat"/>
              </a:rPr>
              <a:t>Stacked Tasks</a:t>
            </a:r>
          </a:p>
        </p:txBody>
      </p:sp>
      <p:sp>
        <p:nvSpPr>
          <p:cNvPr id="8" name="TextBox 7"/>
          <p:cNvSpPr txBox="1"/>
          <p:nvPr/>
        </p:nvSpPr>
        <p:spPr>
          <a:xfrm>
            <a:off x="713232" y="3337560"/>
            <a:ext cx="2185416" cy="1097280"/>
          </a:xfrm>
          <a:prstGeom prst="rect">
            <a:avLst/>
          </a:prstGeom>
          <a:noFill/>
        </p:spPr>
        <p:txBody>
          <a:bodyPr wrap="square" anchor="t">
            <a:spAutoFit/>
          </a:bodyPr>
          <a:lstStyle/>
          <a:p>
            <a:pPr algn="l">
              <a:lnSpc>
                <a:spcPct val="120000"/>
              </a:lnSpc>
            </a:pPr>
            <a:r>
              <a:rPr sz="1200" b="0" i="0">
                <a:solidFill>
                  <a:srgbClr val="DCE6F2"/>
                </a:solidFill>
                <a:latin typeface="Roboto"/>
              </a:rPr>
              <a:t>Tip / cone / RCM tasks</a:t>
            </a:r>
            <a:br/>
            <a:r>
              <a:t>stacked into one Jacobian</a:t>
            </a:r>
          </a:p>
        </p:txBody>
      </p:sp>
      <p:cxnSp>
        <p:nvCxnSpPr>
          <p:cNvPr id="9" name="Connector 8"/>
          <p:cNvCxnSpPr/>
          <p:nvPr/>
        </p:nvCxnSpPr>
        <p:spPr>
          <a:xfrm>
            <a:off x="3099816" y="3520440"/>
            <a:ext cx="246888" cy="0"/>
          </a:xfrm>
          <a:prstGeom prst="line">
            <a:avLst/>
          </a:prstGeom>
          <a:ln w="38100">
            <a:solidFill>
              <a:srgbClr val="5EEA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83280" y="2468880"/>
            <a:ext cx="2514600" cy="2103120"/>
          </a:xfrm>
          <a:prstGeom prst="roundRect">
            <a:avLst>
              <a:gd name="adj" fmla="val 10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2651760"/>
            <a:ext cx="2185416" cy="640080"/>
          </a:xfrm>
          <a:prstGeom prst="rect">
            <a:avLst/>
          </a:prstGeom>
          <a:noFill/>
        </p:spPr>
        <p:txBody>
          <a:bodyPr wrap="square" anchor="t">
            <a:spAutoFit/>
          </a:bodyPr>
          <a:lstStyle/>
          <a:p>
            <a:pPr algn="l">
              <a:lnSpc>
                <a:spcPct val="110000"/>
              </a:lnSpc>
            </a:pPr>
            <a:r>
              <a:rPr sz="1500" b="1" i="0">
                <a:solidFill>
                  <a:srgbClr val="5EEAD4"/>
                </a:solidFill>
                <a:latin typeface="Montserrat"/>
              </a:rPr>
              <a:t>Damped Least</a:t>
            </a:r>
            <a:br/>
            <a:r>
              <a:t>Squares</a:t>
            </a:r>
          </a:p>
        </p:txBody>
      </p:sp>
      <p:sp>
        <p:nvSpPr>
          <p:cNvPr id="12" name="TextBox 11"/>
          <p:cNvSpPr txBox="1"/>
          <p:nvPr/>
        </p:nvSpPr>
        <p:spPr>
          <a:xfrm>
            <a:off x="3547872" y="3337560"/>
            <a:ext cx="2185416" cy="1097280"/>
          </a:xfrm>
          <a:prstGeom prst="rect">
            <a:avLst/>
          </a:prstGeom>
          <a:noFill/>
        </p:spPr>
        <p:txBody>
          <a:bodyPr wrap="square" anchor="t">
            <a:spAutoFit/>
          </a:bodyPr>
          <a:lstStyle/>
          <a:p>
            <a:pPr algn="l">
              <a:lnSpc>
                <a:spcPct val="120000"/>
              </a:lnSpc>
            </a:pPr>
            <a:r>
              <a:rPr sz="1200" b="0" i="0">
                <a:solidFill>
                  <a:srgbClr val="DCE6F2"/>
                </a:solidFill>
                <a:latin typeface="Roboto"/>
              </a:rPr>
              <a:t>Custom Gauss–Jordan</a:t>
            </a:r>
            <a:br/>
            <a:r>
              <a:t>solve</a:t>
            </a:r>
          </a:p>
        </p:txBody>
      </p:sp>
      <p:cxnSp>
        <p:nvCxnSpPr>
          <p:cNvPr id="13" name="Connector 12"/>
          <p:cNvCxnSpPr/>
          <p:nvPr/>
        </p:nvCxnSpPr>
        <p:spPr>
          <a:xfrm>
            <a:off x="5934456" y="3520440"/>
            <a:ext cx="246888" cy="0"/>
          </a:xfrm>
          <a:prstGeom prst="line">
            <a:avLst/>
          </a:prstGeom>
          <a:ln w="38100">
            <a:solidFill>
              <a:srgbClr val="5EEA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17920" y="2468880"/>
            <a:ext cx="2514600" cy="2103120"/>
          </a:xfrm>
          <a:prstGeom prst="roundRect">
            <a:avLst>
              <a:gd name="adj" fmla="val 10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651760"/>
            <a:ext cx="2185416" cy="640080"/>
          </a:xfrm>
          <a:prstGeom prst="rect">
            <a:avLst/>
          </a:prstGeom>
          <a:noFill/>
        </p:spPr>
        <p:txBody>
          <a:bodyPr wrap="square" anchor="t">
            <a:spAutoFit/>
          </a:bodyPr>
          <a:lstStyle/>
          <a:p>
            <a:pPr algn="l">
              <a:lnSpc>
                <a:spcPct val="110000"/>
              </a:lnSpc>
            </a:pPr>
            <a:r>
              <a:rPr sz="1500" b="1" i="0">
                <a:solidFill>
                  <a:srgbClr val="5EEAD4"/>
                </a:solidFill>
                <a:latin typeface="Montserrat"/>
              </a:rPr>
              <a:t>Null-space</a:t>
            </a:r>
            <a:br/>
            <a:r>
              <a:t>Correction</a:t>
            </a:r>
          </a:p>
        </p:txBody>
      </p:sp>
      <p:sp>
        <p:nvSpPr>
          <p:cNvPr id="16" name="TextBox 15"/>
          <p:cNvSpPr txBox="1"/>
          <p:nvPr/>
        </p:nvSpPr>
        <p:spPr>
          <a:xfrm>
            <a:off x="6382512" y="3337560"/>
            <a:ext cx="2185416" cy="1097280"/>
          </a:xfrm>
          <a:prstGeom prst="rect">
            <a:avLst/>
          </a:prstGeom>
          <a:noFill/>
        </p:spPr>
        <p:txBody>
          <a:bodyPr wrap="square" anchor="t">
            <a:spAutoFit/>
          </a:bodyPr>
          <a:lstStyle/>
          <a:p>
            <a:pPr algn="l">
              <a:lnSpc>
                <a:spcPct val="120000"/>
              </a:lnSpc>
            </a:pPr>
            <a:r>
              <a:rPr sz="1200" b="0" i="0">
                <a:solidFill>
                  <a:srgbClr val="DCE6F2"/>
                </a:solidFill>
                <a:latin typeface="Roboto"/>
              </a:rPr>
              <a:t>Joint limits, λ target,</a:t>
            </a:r>
            <a:br/>
            <a:r>
              <a:t>secondary objectives</a:t>
            </a:r>
          </a:p>
        </p:txBody>
      </p:sp>
      <p:cxnSp>
        <p:nvCxnSpPr>
          <p:cNvPr id="17" name="Connector 16"/>
          <p:cNvCxnSpPr/>
          <p:nvPr/>
        </p:nvCxnSpPr>
        <p:spPr>
          <a:xfrm>
            <a:off x="8769096" y="3520440"/>
            <a:ext cx="246888" cy="0"/>
          </a:xfrm>
          <a:prstGeom prst="line">
            <a:avLst/>
          </a:prstGeom>
          <a:ln w="38100">
            <a:solidFill>
              <a:srgbClr val="5EEA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52560" y="2468880"/>
            <a:ext cx="2514600" cy="2103120"/>
          </a:xfrm>
          <a:prstGeom prst="roundRect">
            <a:avLst>
              <a:gd name="adj" fmla="val 10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17152" y="2651760"/>
            <a:ext cx="2185416" cy="640080"/>
          </a:xfrm>
          <a:prstGeom prst="rect">
            <a:avLst/>
          </a:prstGeom>
          <a:noFill/>
        </p:spPr>
        <p:txBody>
          <a:bodyPr wrap="square" anchor="t">
            <a:spAutoFit/>
          </a:bodyPr>
          <a:lstStyle/>
          <a:p>
            <a:pPr algn="l">
              <a:lnSpc>
                <a:spcPct val="110000"/>
              </a:lnSpc>
            </a:pPr>
            <a:r>
              <a:rPr sz="1500" b="1" i="0">
                <a:solidFill>
                  <a:srgbClr val="5EEAD4"/>
                </a:solidFill>
                <a:latin typeface="Montserrat"/>
              </a:rPr>
              <a:t>Velocity</a:t>
            </a:r>
            <a:br/>
            <a:r>
              <a:t>Output</a:t>
            </a:r>
          </a:p>
        </p:txBody>
      </p:sp>
      <p:sp>
        <p:nvSpPr>
          <p:cNvPr id="20" name="TextBox 19"/>
          <p:cNvSpPr txBox="1"/>
          <p:nvPr/>
        </p:nvSpPr>
        <p:spPr>
          <a:xfrm>
            <a:off x="9217152" y="3337560"/>
            <a:ext cx="2185416" cy="1097280"/>
          </a:xfrm>
          <a:prstGeom prst="rect">
            <a:avLst/>
          </a:prstGeom>
          <a:noFill/>
        </p:spPr>
        <p:txBody>
          <a:bodyPr wrap="square" anchor="t">
            <a:spAutoFit/>
          </a:bodyPr>
          <a:lstStyle/>
          <a:p>
            <a:pPr algn="l">
              <a:lnSpc>
                <a:spcPct val="120000"/>
              </a:lnSpc>
            </a:pPr>
            <a:r>
              <a:rPr sz="1200" b="0" i="0">
                <a:solidFill>
                  <a:srgbClr val="DCE6F2"/>
                </a:solidFill>
                <a:latin typeface="Roboto"/>
              </a:rPr>
              <a:t>Saturated joint + λ̇</a:t>
            </a:r>
            <a:br/>
            <a:r>
              <a:t>velocities, integrated</a:t>
            </a:r>
          </a:p>
        </p:txBody>
      </p:sp>
      <p:sp>
        <p:nvSpPr>
          <p:cNvPr id="21" name="TextBox 20"/>
          <p:cNvSpPr txBox="1"/>
          <p:nvPr/>
        </p:nvSpPr>
        <p:spPr>
          <a:xfrm>
            <a:off x="548640" y="5029200"/>
            <a:ext cx="10515600" cy="457200"/>
          </a:xfrm>
          <a:prstGeom prst="rect">
            <a:avLst/>
          </a:prstGeom>
          <a:noFill/>
        </p:spPr>
        <p:txBody>
          <a:bodyPr wrap="square" anchor="t">
            <a:spAutoFit/>
          </a:bodyPr>
          <a:lstStyle/>
          <a:p>
            <a:pPr algn="l">
              <a:lnSpc>
                <a:spcPct val="100000"/>
              </a:lnSpc>
            </a:pPr>
            <a:r>
              <a:rPr sz="1300" b="0" i="1">
                <a:solidFill>
                  <a:srgbClr val="DCE6F2"/>
                </a:solidFill>
                <a:latin typeface="Roboto"/>
              </a:rPr>
              <a:t>Jacobians computed by numerical finite differencing.</a:t>
            </a:r>
          </a:p>
        </p:txBody>
      </p:sp>
      <p:sp>
        <p:nvSpPr>
          <p:cNvPr id="22" name="TextBox 21"/>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DCE6F2"/>
                </a:solidFill>
                <a:latin typeface="Montserrat"/>
              </a:rPr>
              <a:t>CONTROLLER</a:t>
            </a:r>
          </a:p>
        </p:txBody>
      </p:sp>
      <p:sp>
        <p:nvSpPr>
          <p:cNvPr id="23" name="TextBox 22"/>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DCE6F2"/>
                </a:solidFill>
                <a:latin typeface="Montserrat"/>
              </a:rPr>
              <a:t>08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5EEAD4"/>
                </a:solidFill>
                <a:latin typeface="Montserrat"/>
              </a:rPr>
              <a:t>08 — CONTROLLER (MATH)</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F7FAFC"/>
                </a:solidFill>
                <a:latin typeface="Montserrat"/>
              </a:rPr>
              <a:t>The Control Law, in Full</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5349240" cy="1691640"/>
          </a:xfrm>
          <a:prstGeom prst="roundRect">
            <a:avLst>
              <a:gd name="adj" fmla="val 10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9384"/>
            <a:ext cx="4892040" cy="320040"/>
          </a:xfrm>
          <a:prstGeom prst="rect">
            <a:avLst/>
          </a:prstGeom>
          <a:noFill/>
        </p:spPr>
        <p:txBody>
          <a:bodyPr wrap="square" anchor="t">
            <a:spAutoFit/>
          </a:bodyPr>
          <a:lstStyle/>
          <a:p>
            <a:pPr algn="l">
              <a:lnSpc>
                <a:spcPct val="100000"/>
              </a:lnSpc>
            </a:pPr>
            <a:r>
              <a:rPr sz="1250" b="1" i="0">
                <a:solidFill>
                  <a:srgbClr val="5EEAD4"/>
                </a:solidFill>
                <a:latin typeface="Montserrat"/>
              </a:rPr>
              <a:t>Stacked task Jacobian</a:t>
            </a:r>
          </a:p>
        </p:txBody>
      </p:sp>
      <p:sp>
        <p:nvSpPr>
          <p:cNvPr id="8" name="TextBox 7"/>
          <p:cNvSpPr txBox="1"/>
          <p:nvPr/>
        </p:nvSpPr>
        <p:spPr>
          <a:xfrm>
            <a:off x="777240" y="2286000"/>
            <a:ext cx="4892040" cy="1051560"/>
          </a:xfrm>
          <a:prstGeom prst="rect">
            <a:avLst/>
          </a:prstGeom>
          <a:noFill/>
        </p:spPr>
        <p:txBody>
          <a:bodyPr wrap="square">
            <a:spAutoFit/>
          </a:bodyPr>
          <a:lstStyle/>
          <a:p>
            <a:r>
              <a:rPr sz="1500">
                <a:solidFill>
                  <a:srgbClr val="FFFFFF"/>
                </a:solidFill>
                <a:latin typeface="Consolas"/>
              </a:rPr>
              <a:t>[ ẋ_task ]   [ J_task   0 ] [ q̇ ]</a:t>
            </a:r>
          </a:p>
          <a:p>
            <a:r>
              <a:rPr sz="1500">
                <a:solidFill>
                  <a:srgbClr val="FFFFFF"/>
                </a:solidFill>
                <a:latin typeface="Consolas"/>
              </a:rPr>
              <a:t>[ ẋ_RCM  ] = [ J_RCM       ] [ λ̇ ]</a:t>
            </a:r>
          </a:p>
        </p:txBody>
      </p:sp>
      <p:sp>
        <p:nvSpPr>
          <p:cNvPr id="9" name="Rounded Rectangle 8"/>
          <p:cNvSpPr/>
          <p:nvPr/>
        </p:nvSpPr>
        <p:spPr>
          <a:xfrm>
            <a:off x="6172199" y="1783080"/>
            <a:ext cx="5349240" cy="1691640"/>
          </a:xfrm>
          <a:prstGeom prst="roundRect">
            <a:avLst>
              <a:gd name="adj" fmla="val 10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799" y="1929384"/>
            <a:ext cx="4892040" cy="320040"/>
          </a:xfrm>
          <a:prstGeom prst="rect">
            <a:avLst/>
          </a:prstGeom>
          <a:noFill/>
        </p:spPr>
        <p:txBody>
          <a:bodyPr wrap="square" anchor="t">
            <a:spAutoFit/>
          </a:bodyPr>
          <a:lstStyle/>
          <a:p>
            <a:pPr algn="l">
              <a:lnSpc>
                <a:spcPct val="100000"/>
              </a:lnSpc>
            </a:pPr>
            <a:r>
              <a:rPr sz="1250" b="1" i="0">
                <a:solidFill>
                  <a:srgbClr val="5EEAD4"/>
                </a:solidFill>
                <a:latin typeface="Montserrat"/>
              </a:rPr>
              <a:t>Per-task error → velocity</a:t>
            </a:r>
          </a:p>
        </p:txBody>
      </p:sp>
      <p:sp>
        <p:nvSpPr>
          <p:cNvPr id="11" name="TextBox 10"/>
          <p:cNvSpPr txBox="1"/>
          <p:nvPr/>
        </p:nvSpPr>
        <p:spPr>
          <a:xfrm>
            <a:off x="6400799" y="2286000"/>
            <a:ext cx="4892040" cy="1051560"/>
          </a:xfrm>
          <a:prstGeom prst="rect">
            <a:avLst/>
          </a:prstGeom>
          <a:noFill/>
        </p:spPr>
        <p:txBody>
          <a:bodyPr wrap="square">
            <a:spAutoFit/>
          </a:bodyPr>
          <a:lstStyle/>
          <a:p>
            <a:r>
              <a:rPr sz="1500">
                <a:solidFill>
                  <a:srgbClr val="FFFFFF"/>
                </a:solidFill>
                <a:latin typeface="Consolas"/>
              </a:rPr>
              <a:t>ẏ_i = K_i · (x_des,i − x_i),  saturated</a:t>
            </a:r>
          </a:p>
        </p:txBody>
      </p:sp>
      <p:sp>
        <p:nvSpPr>
          <p:cNvPr id="12" name="Rounded Rectangle 11"/>
          <p:cNvSpPr/>
          <p:nvPr/>
        </p:nvSpPr>
        <p:spPr>
          <a:xfrm>
            <a:off x="548640" y="3675888"/>
            <a:ext cx="5349240" cy="1691640"/>
          </a:xfrm>
          <a:prstGeom prst="roundRect">
            <a:avLst>
              <a:gd name="adj" fmla="val 10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22192"/>
            <a:ext cx="4892040" cy="320040"/>
          </a:xfrm>
          <a:prstGeom prst="rect">
            <a:avLst/>
          </a:prstGeom>
          <a:noFill/>
        </p:spPr>
        <p:txBody>
          <a:bodyPr wrap="square" anchor="t">
            <a:spAutoFit/>
          </a:bodyPr>
          <a:lstStyle/>
          <a:p>
            <a:pPr algn="l">
              <a:lnSpc>
                <a:spcPct val="100000"/>
              </a:lnSpc>
            </a:pPr>
            <a:r>
              <a:rPr sz="1250" b="1" i="0">
                <a:solidFill>
                  <a:srgbClr val="5EEAD4"/>
                </a:solidFill>
                <a:latin typeface="Montserrat"/>
              </a:rPr>
              <a:t>Damped least-squares solve</a:t>
            </a:r>
          </a:p>
        </p:txBody>
      </p:sp>
      <p:sp>
        <p:nvSpPr>
          <p:cNvPr id="14" name="TextBox 13"/>
          <p:cNvSpPr txBox="1"/>
          <p:nvPr/>
        </p:nvSpPr>
        <p:spPr>
          <a:xfrm>
            <a:off x="777240" y="4178808"/>
            <a:ext cx="4892040" cy="1051560"/>
          </a:xfrm>
          <a:prstGeom prst="rect">
            <a:avLst/>
          </a:prstGeom>
          <a:noFill/>
        </p:spPr>
        <p:txBody>
          <a:bodyPr wrap="square">
            <a:spAutoFit/>
          </a:bodyPr>
          <a:lstStyle/>
          <a:p>
            <a:r>
              <a:rPr sz="1500">
                <a:solidFill>
                  <a:srgbClr val="FFFFFF"/>
                </a:solidFill>
                <a:latin typeface="Consolas"/>
              </a:rPr>
              <a:t>[ q̇ ; λ̇ ] = Jᵗ (J Jᵗ + μ²I)⁻¹ y</a:t>
            </a:r>
          </a:p>
        </p:txBody>
      </p:sp>
      <p:sp>
        <p:nvSpPr>
          <p:cNvPr id="15" name="Rounded Rectangle 14"/>
          <p:cNvSpPr/>
          <p:nvPr/>
        </p:nvSpPr>
        <p:spPr>
          <a:xfrm>
            <a:off x="6172199" y="3675888"/>
            <a:ext cx="5349240" cy="1691640"/>
          </a:xfrm>
          <a:prstGeom prst="roundRect">
            <a:avLst>
              <a:gd name="adj" fmla="val 10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799" y="3822192"/>
            <a:ext cx="4892040" cy="320040"/>
          </a:xfrm>
          <a:prstGeom prst="rect">
            <a:avLst/>
          </a:prstGeom>
          <a:noFill/>
        </p:spPr>
        <p:txBody>
          <a:bodyPr wrap="square" anchor="t">
            <a:spAutoFit/>
          </a:bodyPr>
          <a:lstStyle/>
          <a:p>
            <a:pPr algn="l">
              <a:lnSpc>
                <a:spcPct val="100000"/>
              </a:lnSpc>
            </a:pPr>
            <a:r>
              <a:rPr sz="1250" b="1" i="0">
                <a:solidFill>
                  <a:srgbClr val="5EEAD4"/>
                </a:solidFill>
                <a:latin typeface="Montserrat"/>
              </a:rPr>
              <a:t>Null-space secondary objective</a:t>
            </a:r>
          </a:p>
        </p:txBody>
      </p:sp>
      <p:sp>
        <p:nvSpPr>
          <p:cNvPr id="17" name="TextBox 16"/>
          <p:cNvSpPr txBox="1"/>
          <p:nvPr/>
        </p:nvSpPr>
        <p:spPr>
          <a:xfrm>
            <a:off x="6400799" y="4178808"/>
            <a:ext cx="4892040" cy="1051560"/>
          </a:xfrm>
          <a:prstGeom prst="rect">
            <a:avLst/>
          </a:prstGeom>
          <a:noFill/>
        </p:spPr>
        <p:txBody>
          <a:bodyPr wrap="square">
            <a:spAutoFit/>
          </a:bodyPr>
          <a:lstStyle/>
          <a:p>
            <a:r>
              <a:rPr sz="1500">
                <a:solidFill>
                  <a:srgbClr val="FFFFFF"/>
                </a:solidFill>
                <a:latin typeface="Consolas"/>
              </a:rPr>
              <a:t>+ (I − J⁺J) · w</a:t>
            </a:r>
          </a:p>
          <a:p>
            <a:r>
              <a:rPr sz="1500">
                <a:solidFill>
                  <a:srgbClr val="FFFFFF"/>
                </a:solidFill>
                <a:latin typeface="Consolas"/>
              </a:rPr>
              <a:t>w: joint limits, λ target</a:t>
            </a:r>
          </a:p>
        </p:txBody>
      </p:sp>
      <p:sp>
        <p:nvSpPr>
          <p:cNvPr id="18" name="TextBox 17"/>
          <p:cNvSpPr txBox="1"/>
          <p:nvPr/>
        </p:nvSpPr>
        <p:spPr>
          <a:xfrm>
            <a:off x="548640" y="5614416"/>
            <a:ext cx="10972800" cy="457200"/>
          </a:xfrm>
          <a:prstGeom prst="rect">
            <a:avLst/>
          </a:prstGeom>
          <a:noFill/>
        </p:spPr>
        <p:txBody>
          <a:bodyPr wrap="square" anchor="t">
            <a:spAutoFit/>
          </a:bodyPr>
          <a:lstStyle/>
          <a:p>
            <a:pPr algn="l">
              <a:lnSpc>
                <a:spcPct val="100000"/>
              </a:lnSpc>
            </a:pPr>
            <a:r>
              <a:rPr sz="1300" b="0" i="1">
                <a:solidFill>
                  <a:srgbClr val="DCE6F2"/>
                </a:solidFill>
                <a:latin typeface="Roboto"/>
              </a:rPr>
              <a:t>Integration (saturated): q_{k+1} = clamp(q_k + q̇·Δt)   ·   λ_{k+1} = clamp(λ_k + λ̇·Δt, 0.02, 0.995)</a:t>
            </a:r>
          </a:p>
        </p:txBody>
      </p:sp>
      <p:sp>
        <p:nvSpPr>
          <p:cNvPr id="19" name="TextBox 18"/>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DCE6F2"/>
                </a:solidFill>
                <a:latin typeface="Montserrat"/>
              </a:rPr>
              <a:t>CONTROLLER (MATH)</a:t>
            </a:r>
          </a:p>
        </p:txBody>
      </p:sp>
      <p:sp>
        <p:nvSpPr>
          <p:cNvPr id="20" name="TextBox 19"/>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DCE6F2"/>
                </a:solidFill>
                <a:latin typeface="Montserrat"/>
              </a:rPr>
              <a:t>09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09 — IMPLEMENTATION</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Built in Unity — Three Scripts</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011680"/>
            <a:ext cx="4572000" cy="96012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011680"/>
            <a:ext cx="3931920" cy="960120"/>
          </a:xfrm>
          <a:prstGeom prst="rect">
            <a:avLst/>
          </a:prstGeom>
          <a:noFill/>
        </p:spPr>
        <p:txBody>
          <a:bodyPr wrap="square" anchor="ctr">
            <a:spAutoFit/>
          </a:bodyPr>
          <a:lstStyle/>
          <a:p>
            <a:pPr algn="l">
              <a:lnSpc>
                <a:spcPct val="115000"/>
              </a:lnSpc>
            </a:pPr>
            <a:r>
              <a:rPr sz="1350" b="0" i="0">
                <a:solidFill>
                  <a:srgbClr val="F7FAFC"/>
                </a:solidFill>
                <a:latin typeface="Roboto"/>
              </a:rPr>
              <a:t>Project4SceneBuilder.cs — builds the scene procedurally</a:t>
            </a:r>
          </a:p>
        </p:txBody>
      </p:sp>
      <p:sp>
        <p:nvSpPr>
          <p:cNvPr id="8" name="TextBox 7"/>
          <p:cNvSpPr txBox="1"/>
          <p:nvPr/>
        </p:nvSpPr>
        <p:spPr>
          <a:xfrm>
            <a:off x="713232" y="2011680"/>
            <a:ext cx="365760" cy="960120"/>
          </a:xfrm>
          <a:prstGeom prst="rect">
            <a:avLst/>
          </a:prstGeom>
          <a:noFill/>
        </p:spPr>
        <p:txBody>
          <a:bodyPr wrap="square" anchor="ctr">
            <a:spAutoFit/>
          </a:bodyPr>
          <a:lstStyle/>
          <a:p>
            <a:pPr algn="l">
              <a:lnSpc>
                <a:spcPct val="100000"/>
              </a:lnSpc>
            </a:pPr>
            <a:r>
              <a:rPr sz="1600" b="1" i="0">
                <a:solidFill>
                  <a:srgbClr val="5EEAD4"/>
                </a:solidFill>
                <a:latin typeface="Roboto"/>
              </a:rPr>
              <a:t>▣</a:t>
            </a:r>
          </a:p>
        </p:txBody>
      </p:sp>
      <p:sp>
        <p:nvSpPr>
          <p:cNvPr id="9" name="Rounded Rectangle 8"/>
          <p:cNvSpPr/>
          <p:nvPr/>
        </p:nvSpPr>
        <p:spPr>
          <a:xfrm>
            <a:off x="548640" y="3200400"/>
            <a:ext cx="4572000" cy="96012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200400"/>
            <a:ext cx="3931920" cy="960120"/>
          </a:xfrm>
          <a:prstGeom prst="rect">
            <a:avLst/>
          </a:prstGeom>
          <a:noFill/>
        </p:spPr>
        <p:txBody>
          <a:bodyPr wrap="square" anchor="ctr">
            <a:spAutoFit/>
          </a:bodyPr>
          <a:lstStyle/>
          <a:p>
            <a:pPr algn="l">
              <a:lnSpc>
                <a:spcPct val="115000"/>
              </a:lnSpc>
            </a:pPr>
            <a:r>
              <a:rPr sz="1350" b="0" i="0">
                <a:solidFill>
                  <a:srgbClr val="F7FAFC"/>
                </a:solidFill>
                <a:latin typeface="Roboto"/>
              </a:rPr>
              <a:t>ROSADoubleRCMController.cs — kinematics, control law, logging</a:t>
            </a:r>
          </a:p>
        </p:txBody>
      </p:sp>
      <p:sp>
        <p:nvSpPr>
          <p:cNvPr id="11" name="TextBox 10"/>
          <p:cNvSpPr txBox="1"/>
          <p:nvPr/>
        </p:nvSpPr>
        <p:spPr>
          <a:xfrm>
            <a:off x="713232" y="3200400"/>
            <a:ext cx="365760" cy="960120"/>
          </a:xfrm>
          <a:prstGeom prst="rect">
            <a:avLst/>
          </a:prstGeom>
          <a:noFill/>
        </p:spPr>
        <p:txBody>
          <a:bodyPr wrap="square" anchor="ctr">
            <a:spAutoFit/>
          </a:bodyPr>
          <a:lstStyle/>
          <a:p>
            <a:pPr algn="l">
              <a:lnSpc>
                <a:spcPct val="100000"/>
              </a:lnSpc>
            </a:pPr>
            <a:r>
              <a:rPr sz="1600" b="1" i="0">
                <a:solidFill>
                  <a:srgbClr val="5EEAD4"/>
                </a:solidFill>
                <a:latin typeface="Roboto"/>
              </a:rPr>
              <a:t>▣</a:t>
            </a:r>
          </a:p>
        </p:txBody>
      </p:sp>
      <p:sp>
        <p:nvSpPr>
          <p:cNvPr id="12" name="Rounded Rectangle 11"/>
          <p:cNvSpPr/>
          <p:nvPr/>
        </p:nvSpPr>
        <p:spPr>
          <a:xfrm>
            <a:off x="548640" y="4389120"/>
            <a:ext cx="4572000" cy="96012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389120"/>
            <a:ext cx="3931920" cy="960120"/>
          </a:xfrm>
          <a:prstGeom prst="rect">
            <a:avLst/>
          </a:prstGeom>
          <a:noFill/>
        </p:spPr>
        <p:txBody>
          <a:bodyPr wrap="square" anchor="ctr">
            <a:spAutoFit/>
          </a:bodyPr>
          <a:lstStyle/>
          <a:p>
            <a:pPr algn="l">
              <a:lnSpc>
                <a:spcPct val="115000"/>
              </a:lnSpc>
            </a:pPr>
            <a:r>
              <a:rPr sz="1350" b="0" i="0">
                <a:solidFill>
                  <a:srgbClr val="F7FAFC"/>
                </a:solidFill>
                <a:latin typeface="Roboto"/>
              </a:rPr>
              <a:t>FreeFlyCameraKeyboard.cs — keyboard fly-camera</a:t>
            </a:r>
          </a:p>
        </p:txBody>
      </p:sp>
      <p:sp>
        <p:nvSpPr>
          <p:cNvPr id="14" name="TextBox 13"/>
          <p:cNvSpPr txBox="1"/>
          <p:nvPr/>
        </p:nvSpPr>
        <p:spPr>
          <a:xfrm>
            <a:off x="713232" y="4389120"/>
            <a:ext cx="365760" cy="960120"/>
          </a:xfrm>
          <a:prstGeom prst="rect">
            <a:avLst/>
          </a:prstGeom>
          <a:noFill/>
        </p:spPr>
        <p:txBody>
          <a:bodyPr wrap="square" anchor="ctr">
            <a:spAutoFit/>
          </a:bodyPr>
          <a:lstStyle/>
          <a:p>
            <a:pPr algn="l">
              <a:lnSpc>
                <a:spcPct val="100000"/>
              </a:lnSpc>
            </a:pPr>
            <a:r>
              <a:rPr sz="1600" b="1" i="0">
                <a:solidFill>
                  <a:srgbClr val="5EEAD4"/>
                </a:solidFill>
                <a:latin typeface="Roboto"/>
              </a:rPr>
              <a:t>▣</a:t>
            </a:r>
          </a:p>
        </p:txBody>
      </p:sp>
      <p:pic>
        <p:nvPicPr>
          <p:cNvPr id="15" name="Picture 14" descr="unity_scene_wide.jpg"/>
          <p:cNvPicPr>
            <a:picLocks noChangeAspect="1"/>
          </p:cNvPicPr>
          <p:nvPr/>
        </p:nvPicPr>
        <p:blipFill>
          <a:blip r:embed="rId2"/>
          <a:stretch>
            <a:fillRect/>
          </a:stretch>
        </p:blipFill>
        <p:spPr>
          <a:xfrm>
            <a:off x="5532120" y="2011680"/>
            <a:ext cx="6080760" cy="3425780"/>
          </a:xfrm>
          <a:prstGeom prst="rect">
            <a:avLst/>
          </a:prstGeom>
          <a:ln w="12700">
            <a:solidFill>
              <a:srgbClr val="CBD5E1"/>
            </a:solidFill>
          </a:ln>
        </p:spPr>
      </p:pic>
      <p:sp>
        <p:nvSpPr>
          <p:cNvPr id="16" name="TextBox 15"/>
          <p:cNvSpPr txBox="1"/>
          <p:nvPr/>
        </p:nvSpPr>
        <p:spPr>
          <a:xfrm>
            <a:off x="5532120" y="5547188"/>
            <a:ext cx="6080760" cy="548640"/>
          </a:xfrm>
          <a:prstGeom prst="rect">
            <a:avLst/>
          </a:prstGeom>
          <a:noFill/>
        </p:spPr>
        <p:txBody>
          <a:bodyPr wrap="square" anchor="t">
            <a:spAutoFit/>
          </a:bodyPr>
          <a:lstStyle/>
          <a:p>
            <a:pPr algn="l">
              <a:lnSpc>
                <a:spcPct val="120000"/>
              </a:lnSpc>
            </a:pPr>
            <a:r>
              <a:rPr sz="1150" b="0" i="1">
                <a:solidFill>
                  <a:srgbClr val="5B6B7F"/>
                </a:solidFill>
                <a:latin typeface="Roboto"/>
              </a:rPr>
              <a:t>Simulation view: procedural arm, needle, target marker, live HUD.</a:t>
            </a:r>
            <a:br/>
            <a:r>
              <a:t>(Captured from an earlier development build.)</a:t>
            </a:r>
          </a:p>
        </p:txBody>
      </p:sp>
      <p:sp>
        <p:nvSpPr>
          <p:cNvPr id="17" name="TextBox 16"/>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IMPLEMENTATION</a:t>
            </a:r>
          </a:p>
        </p:txBody>
      </p:sp>
      <p:sp>
        <p:nvSpPr>
          <p:cNvPr id="18" name="TextBox 17"/>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10 — METHODOLOGY</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From Simulation to Evidence</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377440"/>
            <a:ext cx="3246120" cy="1828800"/>
          </a:xfrm>
          <a:prstGeom prst="roundRect">
            <a:avLst>
              <a:gd name="adj" fmla="val 10000"/>
            </a:avLst>
          </a:prstGeom>
          <a:solidFill>
            <a:srgbClr val="FFFFFF"/>
          </a:solidFill>
          <a:ln w="19050">
            <a:solidFill>
              <a:srgbClr val="17C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606040"/>
            <a:ext cx="2788920" cy="457200"/>
          </a:xfrm>
          <a:prstGeom prst="rect">
            <a:avLst/>
          </a:prstGeom>
          <a:noFill/>
        </p:spPr>
        <p:txBody>
          <a:bodyPr wrap="square" anchor="t">
            <a:spAutoFit/>
          </a:bodyPr>
          <a:lstStyle/>
          <a:p>
            <a:pPr algn="l">
              <a:lnSpc>
                <a:spcPct val="100000"/>
              </a:lnSpc>
            </a:pPr>
            <a:r>
              <a:rPr sz="1600" b="1" i="0">
                <a:solidFill>
                  <a:srgbClr val="0A2540"/>
                </a:solidFill>
                <a:latin typeface="Montserrat"/>
              </a:rPr>
              <a:t>Unity Controller</a:t>
            </a:r>
          </a:p>
        </p:txBody>
      </p:sp>
      <p:sp>
        <p:nvSpPr>
          <p:cNvPr id="8" name="TextBox 7"/>
          <p:cNvSpPr txBox="1"/>
          <p:nvPr/>
        </p:nvSpPr>
        <p:spPr>
          <a:xfrm>
            <a:off x="777240" y="3154680"/>
            <a:ext cx="2788920" cy="914400"/>
          </a:xfrm>
          <a:prstGeom prst="rect">
            <a:avLst/>
          </a:prstGeom>
          <a:noFill/>
        </p:spPr>
        <p:txBody>
          <a:bodyPr wrap="square" anchor="t">
            <a:spAutoFit/>
          </a:bodyPr>
          <a:lstStyle/>
          <a:p>
            <a:pPr algn="l">
              <a:lnSpc>
                <a:spcPct val="125000"/>
              </a:lnSpc>
            </a:pPr>
            <a:r>
              <a:rPr sz="1250" b="0" i="0">
                <a:solidFill>
                  <a:srgbClr val="5B6B7F"/>
                </a:solidFill>
                <a:latin typeface="Roboto"/>
              </a:rPr>
              <a:t>Live CSV log</a:t>
            </a:r>
            <a:br/>
            <a:r>
              <a:t>~20 Hz, every relevant variable</a:t>
            </a:r>
          </a:p>
        </p:txBody>
      </p:sp>
      <p:cxnSp>
        <p:nvCxnSpPr>
          <p:cNvPr id="9" name="Connector 8"/>
          <p:cNvCxnSpPr/>
          <p:nvPr/>
        </p:nvCxnSpPr>
        <p:spPr>
          <a:xfrm>
            <a:off x="3840479" y="3291840"/>
            <a:ext cx="411480" cy="0"/>
          </a:xfrm>
          <a:prstGeom prst="line">
            <a:avLst/>
          </a:prstGeom>
          <a:ln w="38100">
            <a:solidFill>
              <a:srgbClr val="0A25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97679" y="2377440"/>
            <a:ext cx="3246120" cy="1828800"/>
          </a:xfrm>
          <a:prstGeom prst="roundRect">
            <a:avLst>
              <a:gd name="adj" fmla="val 10000"/>
            </a:avLst>
          </a:prstGeom>
          <a:solidFill>
            <a:srgbClr val="FFFFFF"/>
          </a:solidFill>
          <a:ln w="19050">
            <a:solidFill>
              <a:srgbClr val="17C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2606040"/>
            <a:ext cx="2788920" cy="457200"/>
          </a:xfrm>
          <a:prstGeom prst="rect">
            <a:avLst/>
          </a:prstGeom>
          <a:noFill/>
        </p:spPr>
        <p:txBody>
          <a:bodyPr wrap="square" anchor="t">
            <a:spAutoFit/>
          </a:bodyPr>
          <a:lstStyle/>
          <a:p>
            <a:pPr algn="l">
              <a:lnSpc>
                <a:spcPct val="100000"/>
              </a:lnSpc>
            </a:pPr>
            <a:r>
              <a:rPr sz="1600" b="1" i="0">
                <a:solidFill>
                  <a:srgbClr val="0A2540"/>
                </a:solidFill>
                <a:latin typeface="Montserrat"/>
              </a:rPr>
              <a:t>Python Analyzer</a:t>
            </a:r>
          </a:p>
        </p:txBody>
      </p:sp>
      <p:sp>
        <p:nvSpPr>
          <p:cNvPr id="12" name="TextBox 11"/>
          <p:cNvSpPr txBox="1"/>
          <p:nvPr/>
        </p:nvSpPr>
        <p:spPr>
          <a:xfrm>
            <a:off x="4526279" y="3154680"/>
            <a:ext cx="2788920" cy="914400"/>
          </a:xfrm>
          <a:prstGeom prst="rect">
            <a:avLst/>
          </a:prstGeom>
          <a:noFill/>
        </p:spPr>
        <p:txBody>
          <a:bodyPr wrap="square" anchor="t">
            <a:spAutoFit/>
          </a:bodyPr>
          <a:lstStyle/>
          <a:p>
            <a:pPr algn="l">
              <a:lnSpc>
                <a:spcPct val="125000"/>
              </a:lnSpc>
            </a:pPr>
            <a:r>
              <a:rPr sz="1250" b="0" i="0">
                <a:solidFill>
                  <a:srgbClr val="5B6B7F"/>
                </a:solidFill>
                <a:latin typeface="Roboto"/>
              </a:rPr>
              <a:t>analyze_rcm_logs_clean.py</a:t>
            </a:r>
            <a:br/>
            <a:r>
              <a:t>one metric per plot</a:t>
            </a:r>
          </a:p>
        </p:txBody>
      </p:sp>
      <p:cxnSp>
        <p:nvCxnSpPr>
          <p:cNvPr id="13" name="Connector 12"/>
          <p:cNvCxnSpPr/>
          <p:nvPr/>
        </p:nvCxnSpPr>
        <p:spPr>
          <a:xfrm>
            <a:off x="7589520" y="3291840"/>
            <a:ext cx="411480" cy="0"/>
          </a:xfrm>
          <a:prstGeom prst="line">
            <a:avLst/>
          </a:prstGeom>
          <a:ln w="38100">
            <a:solidFill>
              <a:srgbClr val="0A25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46719" y="2377440"/>
            <a:ext cx="3246120" cy="1828800"/>
          </a:xfrm>
          <a:prstGeom prst="roundRect">
            <a:avLst>
              <a:gd name="adj" fmla="val 10000"/>
            </a:avLst>
          </a:prstGeom>
          <a:solidFill>
            <a:srgbClr val="FFFFFF"/>
          </a:solidFill>
          <a:ln w="19050">
            <a:solidFill>
              <a:srgbClr val="17C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2606040"/>
            <a:ext cx="2788920" cy="457200"/>
          </a:xfrm>
          <a:prstGeom prst="rect">
            <a:avLst/>
          </a:prstGeom>
          <a:noFill/>
        </p:spPr>
        <p:txBody>
          <a:bodyPr wrap="square" anchor="t">
            <a:spAutoFit/>
          </a:bodyPr>
          <a:lstStyle/>
          <a:p>
            <a:pPr algn="l">
              <a:lnSpc>
                <a:spcPct val="100000"/>
              </a:lnSpc>
            </a:pPr>
            <a:r>
              <a:rPr sz="1600" b="1" i="0">
                <a:solidFill>
                  <a:srgbClr val="0A2540"/>
                </a:solidFill>
                <a:latin typeface="Montserrat"/>
              </a:rPr>
              <a:t>Plots + Tables</a:t>
            </a:r>
          </a:p>
        </p:txBody>
      </p:sp>
      <p:sp>
        <p:nvSpPr>
          <p:cNvPr id="16" name="TextBox 15"/>
          <p:cNvSpPr txBox="1"/>
          <p:nvPr/>
        </p:nvSpPr>
        <p:spPr>
          <a:xfrm>
            <a:off x="8275319" y="3154680"/>
            <a:ext cx="2788920" cy="914400"/>
          </a:xfrm>
          <a:prstGeom prst="rect">
            <a:avLst/>
          </a:prstGeom>
          <a:noFill/>
        </p:spPr>
        <p:txBody>
          <a:bodyPr wrap="square" anchor="t">
            <a:spAutoFit/>
          </a:bodyPr>
          <a:lstStyle/>
          <a:p>
            <a:pPr algn="l">
              <a:lnSpc>
                <a:spcPct val="125000"/>
              </a:lnSpc>
            </a:pPr>
            <a:r>
              <a:rPr sz="1250" b="0" i="0">
                <a:solidFill>
                  <a:srgbClr val="5B6B7F"/>
                </a:solidFill>
                <a:latin typeface="Roboto"/>
              </a:rPr>
              <a:t>Thresholded plots +</a:t>
            </a:r>
            <a:br/>
            <a:r>
              <a:t>pass_fail_checks.csv</a:t>
            </a:r>
          </a:p>
        </p:txBody>
      </p:sp>
      <p:sp>
        <p:nvSpPr>
          <p:cNvPr id="17" name="TextBox 16"/>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METHODOLOGY</a:t>
            </a:r>
          </a:p>
        </p:txBody>
      </p:sp>
      <p:sp>
        <p:nvSpPr>
          <p:cNvPr id="18" name="TextBox 17"/>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5EEAD4"/>
                </a:solidFill>
                <a:latin typeface="Montserrat"/>
              </a:rPr>
              <a:t>11 — RESULTS</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F7FAFC"/>
                </a:solidFill>
                <a:latin typeface="Montserrat"/>
              </a:rPr>
              <a:t>Results: Everything Passes</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2194560" cy="777240"/>
          </a:xfrm>
          <a:prstGeom prst="rect">
            <a:avLst/>
          </a:prstGeom>
          <a:noFill/>
        </p:spPr>
        <p:txBody>
          <a:bodyPr wrap="square" anchor="t">
            <a:spAutoFit/>
          </a:bodyPr>
          <a:lstStyle/>
          <a:p>
            <a:pPr algn="l">
              <a:lnSpc>
                <a:spcPct val="100000"/>
              </a:lnSpc>
            </a:pPr>
            <a:r>
              <a:rPr sz="4600" b="1" i="0">
                <a:solidFill>
                  <a:srgbClr val="5EEAD4"/>
                </a:solidFill>
                <a:latin typeface="Montserrat"/>
              </a:rPr>
              <a:t>9 / 9</a:t>
            </a:r>
          </a:p>
        </p:txBody>
      </p:sp>
      <p:sp>
        <p:nvSpPr>
          <p:cNvPr id="7" name="TextBox 6"/>
          <p:cNvSpPr txBox="1"/>
          <p:nvPr/>
        </p:nvSpPr>
        <p:spPr>
          <a:xfrm>
            <a:off x="2834640" y="1645920"/>
            <a:ext cx="3931920" cy="365760"/>
          </a:xfrm>
          <a:prstGeom prst="rect">
            <a:avLst/>
          </a:prstGeom>
          <a:noFill/>
        </p:spPr>
        <p:txBody>
          <a:bodyPr wrap="square" anchor="ctr">
            <a:spAutoFit/>
          </a:bodyPr>
          <a:lstStyle/>
          <a:p>
            <a:pPr algn="l">
              <a:lnSpc>
                <a:spcPct val="100000"/>
              </a:lnSpc>
            </a:pPr>
            <a:r>
              <a:rPr sz="1500" b="0" i="0">
                <a:solidFill>
                  <a:srgbClr val="DCE6F2"/>
                </a:solidFill>
                <a:latin typeface="Roboto"/>
              </a:rPr>
              <a:t>validation checks passed</a:t>
            </a:r>
          </a:p>
        </p:txBody>
      </p:sp>
      <p:sp>
        <p:nvSpPr>
          <p:cNvPr id="8" name="TextBox 7"/>
          <p:cNvSpPr txBox="1"/>
          <p:nvPr/>
        </p:nvSpPr>
        <p:spPr>
          <a:xfrm>
            <a:off x="2834640" y="1965960"/>
            <a:ext cx="6858000" cy="411480"/>
          </a:xfrm>
          <a:prstGeom prst="rect">
            <a:avLst/>
          </a:prstGeom>
          <a:noFill/>
        </p:spPr>
        <p:txBody>
          <a:bodyPr wrap="square" anchor="ctr">
            <a:spAutoFit/>
          </a:bodyPr>
          <a:lstStyle/>
          <a:p>
            <a:pPr algn="l">
              <a:lnSpc>
                <a:spcPct val="100000"/>
              </a:lnSpc>
            </a:pPr>
            <a:r>
              <a:rPr sz="1250" b="0" i="1">
                <a:solidFill>
                  <a:srgbClr val="DCE6F2"/>
                </a:solidFill>
                <a:latin typeface="Roboto"/>
              </a:rPr>
              <a:t>Tightest margin: entry-RCM error during insertion, ~90% of threshold.</a:t>
            </a:r>
          </a:p>
        </p:txBody>
      </p:sp>
      <p:pic>
        <p:nvPicPr>
          <p:cNvPr id="9" name="Picture 8" descr="99_validation_summary_normalized.png"/>
          <p:cNvPicPr>
            <a:picLocks noChangeAspect="1"/>
          </p:cNvPicPr>
          <p:nvPr/>
        </p:nvPicPr>
        <p:blipFill>
          <a:blip r:embed="rId2"/>
          <a:stretch>
            <a:fillRect/>
          </a:stretch>
        </p:blipFill>
        <p:spPr>
          <a:xfrm>
            <a:off x="2896179" y="2697480"/>
            <a:ext cx="6399336" cy="3291840"/>
          </a:xfrm>
          <a:prstGeom prst="rect">
            <a:avLst/>
          </a:prstGeom>
          <a:ln w="12700">
            <a:solidFill>
              <a:srgbClr val="CBD5E1"/>
            </a:solidFill>
          </a:ln>
        </p:spPr>
      </p:pic>
      <p:sp>
        <p:nvSpPr>
          <p:cNvPr id="10" name="TextBox 9"/>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DCE6F2"/>
                </a:solidFill>
                <a:latin typeface="Montserrat"/>
              </a:rPr>
              <a:t>RESULTS</a:t>
            </a:r>
          </a:p>
        </p:txBody>
      </p:sp>
      <p:sp>
        <p:nvSpPr>
          <p:cNvPr id="11" name="TextBox 10"/>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DCE6F2"/>
                </a:solidFill>
                <a:latin typeface="Montserrat"/>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12 — RESULTS</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Results: Safe Insertion (Task 3)</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_T3_entry_rcm_error.png"/>
          <p:cNvPicPr>
            <a:picLocks noChangeAspect="1"/>
          </p:cNvPicPr>
          <p:nvPr/>
        </p:nvPicPr>
        <p:blipFill>
          <a:blip r:embed="rId2"/>
          <a:stretch>
            <a:fillRect/>
          </a:stretch>
        </p:blipFill>
        <p:spPr>
          <a:xfrm>
            <a:off x="548640" y="2514600"/>
            <a:ext cx="5349240" cy="2445367"/>
          </a:xfrm>
          <a:prstGeom prst="rect">
            <a:avLst/>
          </a:prstGeom>
          <a:ln w="12700">
            <a:solidFill>
              <a:srgbClr val="CBD5E1"/>
            </a:solidFill>
          </a:ln>
        </p:spPr>
      </p:pic>
      <p:pic>
        <p:nvPicPr>
          <p:cNvPr id="7" name="Picture 6" descr="03b_T3_tip_line_distance.png"/>
          <p:cNvPicPr>
            <a:picLocks noChangeAspect="1"/>
          </p:cNvPicPr>
          <p:nvPr/>
        </p:nvPicPr>
        <p:blipFill>
          <a:blip r:embed="rId3"/>
          <a:stretch>
            <a:fillRect/>
          </a:stretch>
        </p:blipFill>
        <p:spPr>
          <a:xfrm>
            <a:off x="6126479" y="2514600"/>
            <a:ext cx="5349240" cy="2445367"/>
          </a:xfrm>
          <a:prstGeom prst="rect">
            <a:avLst/>
          </a:prstGeom>
          <a:ln w="12700">
            <a:solidFill>
              <a:srgbClr val="CBD5E1"/>
            </a:solidFill>
          </a:ln>
        </p:spPr>
      </p:pic>
      <p:sp>
        <p:nvSpPr>
          <p:cNvPr id="8" name="TextBox 7"/>
          <p:cNvSpPr txBox="1"/>
          <p:nvPr/>
        </p:nvSpPr>
        <p:spPr>
          <a:xfrm>
            <a:off x="548640" y="5096568"/>
            <a:ext cx="5349240" cy="457200"/>
          </a:xfrm>
          <a:prstGeom prst="rect">
            <a:avLst/>
          </a:prstGeom>
          <a:noFill/>
        </p:spPr>
        <p:txBody>
          <a:bodyPr wrap="square" anchor="t">
            <a:spAutoFit/>
          </a:bodyPr>
          <a:lstStyle/>
          <a:p>
            <a:pPr algn="ctr">
              <a:lnSpc>
                <a:spcPct val="100000"/>
              </a:lnSpc>
            </a:pPr>
            <a:r>
              <a:rPr sz="1300" b="0" i="1">
                <a:solidFill>
                  <a:srgbClr val="5B6B7F"/>
                </a:solidFill>
                <a:latin typeface="Roboto"/>
              </a:rPr>
              <a:t>Entry-RCM error → ~0 mm once insertion starts</a:t>
            </a:r>
          </a:p>
        </p:txBody>
      </p:sp>
      <p:sp>
        <p:nvSpPr>
          <p:cNvPr id="9" name="TextBox 8"/>
          <p:cNvSpPr txBox="1"/>
          <p:nvPr/>
        </p:nvSpPr>
        <p:spPr>
          <a:xfrm>
            <a:off x="6126479" y="5096568"/>
            <a:ext cx="5349240" cy="457200"/>
          </a:xfrm>
          <a:prstGeom prst="rect">
            <a:avLst/>
          </a:prstGeom>
          <a:noFill/>
        </p:spPr>
        <p:txBody>
          <a:bodyPr wrap="square" anchor="t">
            <a:spAutoFit/>
          </a:bodyPr>
          <a:lstStyle/>
          <a:p>
            <a:pPr algn="ctr">
              <a:lnSpc>
                <a:spcPct val="100000"/>
              </a:lnSpc>
            </a:pPr>
            <a:r>
              <a:rPr sz="1300" b="0" i="1">
                <a:solidFill>
                  <a:srgbClr val="5B6B7F"/>
                </a:solidFill>
                <a:latin typeface="Roboto"/>
              </a:rPr>
              <a:t>Tip stays on the planned entry–target line</a:t>
            </a:r>
          </a:p>
        </p:txBody>
      </p:sp>
      <p:sp>
        <p:nvSpPr>
          <p:cNvPr id="10" name="TextBox 9"/>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RESULTS</a:t>
            </a:r>
          </a:p>
        </p:txBody>
      </p:sp>
      <p:sp>
        <p:nvSpPr>
          <p:cNvPr id="11" name="TextBox 10"/>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13 — RESULTS</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Tracking Moving Targets (Tasks 2 &amp; 4)</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_T2_entry_cone_error.png"/>
          <p:cNvPicPr>
            <a:picLocks noChangeAspect="1"/>
          </p:cNvPicPr>
          <p:nvPr/>
        </p:nvPicPr>
        <p:blipFill>
          <a:blip r:embed="rId2"/>
          <a:stretch>
            <a:fillRect/>
          </a:stretch>
        </p:blipFill>
        <p:spPr>
          <a:xfrm>
            <a:off x="548640" y="2377440"/>
            <a:ext cx="5349240" cy="2445367"/>
          </a:xfrm>
          <a:prstGeom prst="rect">
            <a:avLst/>
          </a:prstGeom>
          <a:ln w="12700">
            <a:solidFill>
              <a:srgbClr val="CBD5E1"/>
            </a:solidFill>
          </a:ln>
        </p:spPr>
      </p:pic>
      <p:pic>
        <p:nvPicPr>
          <p:cNvPr id="7" name="Picture 6" descr="07_T4_tip_cone_error.png"/>
          <p:cNvPicPr>
            <a:picLocks noChangeAspect="1"/>
          </p:cNvPicPr>
          <p:nvPr/>
        </p:nvPicPr>
        <p:blipFill>
          <a:blip r:embed="rId3"/>
          <a:stretch>
            <a:fillRect/>
          </a:stretch>
        </p:blipFill>
        <p:spPr>
          <a:xfrm>
            <a:off x="6126479" y="2377440"/>
            <a:ext cx="5349240" cy="2445367"/>
          </a:xfrm>
          <a:prstGeom prst="rect">
            <a:avLst/>
          </a:prstGeom>
          <a:ln w="12700">
            <a:solidFill>
              <a:srgbClr val="CBD5E1"/>
            </a:solidFill>
          </a:ln>
        </p:spPr>
      </p:pic>
      <p:sp>
        <p:nvSpPr>
          <p:cNvPr id="8" name="TextBox 7"/>
          <p:cNvSpPr txBox="1"/>
          <p:nvPr/>
        </p:nvSpPr>
        <p:spPr>
          <a:xfrm>
            <a:off x="548640" y="5005128"/>
            <a:ext cx="10927080" cy="640080"/>
          </a:xfrm>
          <a:prstGeom prst="rect">
            <a:avLst/>
          </a:prstGeom>
          <a:noFill/>
        </p:spPr>
        <p:txBody>
          <a:bodyPr wrap="square" anchor="t">
            <a:spAutoFit/>
          </a:bodyPr>
          <a:lstStyle/>
          <a:p>
            <a:pPr algn="ctr">
              <a:lnSpc>
                <a:spcPct val="100000"/>
              </a:lnSpc>
            </a:pPr>
            <a:r>
              <a:rPr sz="1400" b="0" i="0">
                <a:solidFill>
                  <a:srgbClr val="0A2540"/>
                </a:solidFill>
                <a:latin typeface="Roboto"/>
              </a:rPr>
              <a:t>Bounded, oscillating tracking error — expected for a continuously rotating target, both well under threshold.</a:t>
            </a:r>
          </a:p>
        </p:txBody>
      </p:sp>
      <p:sp>
        <p:nvSpPr>
          <p:cNvPr id="9" name="TextBox 8"/>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RESULTS</a:t>
            </a:r>
          </a:p>
        </p:txBody>
      </p:sp>
      <p:sp>
        <p:nvSpPr>
          <p:cNvPr id="10" name="TextBox 9"/>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17C3B2"/>
                </a:solidFill>
                <a:latin typeface="Montserrat"/>
              </a:rPr>
              <a:t>14 — SCOPE</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0A2540"/>
                </a:solidFill>
                <a:latin typeface="Montserrat"/>
              </a:rPr>
              <a:t>Limitations</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8640" y="2039112"/>
            <a:ext cx="384048" cy="384048"/>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rPr>
              <a:t>◐</a:t>
            </a:r>
          </a:p>
        </p:txBody>
      </p:sp>
      <p:sp>
        <p:nvSpPr>
          <p:cNvPr id="7" name="TextBox 6"/>
          <p:cNvSpPr txBox="1"/>
          <p:nvPr/>
        </p:nvSpPr>
        <p:spPr>
          <a:xfrm>
            <a:off x="1143000" y="2011680"/>
            <a:ext cx="9875520" cy="548640"/>
          </a:xfrm>
          <a:prstGeom prst="rect">
            <a:avLst/>
          </a:prstGeom>
          <a:noFill/>
        </p:spPr>
        <p:txBody>
          <a:bodyPr wrap="square" anchor="t">
            <a:spAutoFit/>
          </a:bodyPr>
          <a:lstStyle/>
          <a:p>
            <a:pPr algn="l">
              <a:lnSpc>
                <a:spcPct val="100000"/>
              </a:lnSpc>
            </a:pPr>
            <a:r>
              <a:rPr sz="1700" b="0" i="0">
                <a:solidFill>
                  <a:srgbClr val="0A2540"/>
                </a:solidFill>
                <a:latin typeface="Roboto"/>
              </a:rPr>
              <a:t>ROSA-like, not an official CAD model — plausible DH, not measured</a:t>
            </a:r>
          </a:p>
        </p:txBody>
      </p:sp>
      <p:sp>
        <p:nvSpPr>
          <p:cNvPr id="8" name="Oval 7"/>
          <p:cNvSpPr/>
          <p:nvPr/>
        </p:nvSpPr>
        <p:spPr>
          <a:xfrm>
            <a:off x="548640" y="2752344"/>
            <a:ext cx="384048" cy="384048"/>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rPr>
              <a:t>◐</a:t>
            </a:r>
          </a:p>
        </p:txBody>
      </p:sp>
      <p:sp>
        <p:nvSpPr>
          <p:cNvPr id="9" name="TextBox 8"/>
          <p:cNvSpPr txBox="1"/>
          <p:nvPr/>
        </p:nvSpPr>
        <p:spPr>
          <a:xfrm>
            <a:off x="1143000" y="2724912"/>
            <a:ext cx="9875520" cy="548640"/>
          </a:xfrm>
          <a:prstGeom prst="rect">
            <a:avLst/>
          </a:prstGeom>
          <a:noFill/>
        </p:spPr>
        <p:txBody>
          <a:bodyPr wrap="square" anchor="t">
            <a:spAutoFit/>
          </a:bodyPr>
          <a:lstStyle/>
          <a:p>
            <a:pPr algn="l">
              <a:lnSpc>
                <a:spcPct val="100000"/>
              </a:lnSpc>
            </a:pPr>
            <a:r>
              <a:rPr sz="1700" b="0" i="0">
                <a:solidFill>
                  <a:srgbClr val="0A2540"/>
                </a:solidFill>
                <a:latin typeface="Roboto"/>
              </a:rPr>
              <a:t>Needle = rigid cylinder, no tissue interaction</a:t>
            </a:r>
          </a:p>
        </p:txBody>
      </p:sp>
      <p:sp>
        <p:nvSpPr>
          <p:cNvPr id="10" name="Oval 9"/>
          <p:cNvSpPr/>
          <p:nvPr/>
        </p:nvSpPr>
        <p:spPr>
          <a:xfrm>
            <a:off x="548640" y="3465576"/>
            <a:ext cx="384048" cy="384048"/>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rPr>
              <a:t>◐</a:t>
            </a:r>
          </a:p>
        </p:txBody>
      </p:sp>
      <p:sp>
        <p:nvSpPr>
          <p:cNvPr id="11" name="TextBox 10"/>
          <p:cNvSpPr txBox="1"/>
          <p:nvPr/>
        </p:nvSpPr>
        <p:spPr>
          <a:xfrm>
            <a:off x="1143000" y="3438144"/>
            <a:ext cx="9875520" cy="548640"/>
          </a:xfrm>
          <a:prstGeom prst="rect">
            <a:avLst/>
          </a:prstGeom>
          <a:noFill/>
        </p:spPr>
        <p:txBody>
          <a:bodyPr wrap="square" anchor="t">
            <a:spAutoFit/>
          </a:bodyPr>
          <a:lstStyle/>
          <a:p>
            <a:pPr algn="l">
              <a:lnSpc>
                <a:spcPct val="100000"/>
              </a:lnSpc>
            </a:pPr>
            <a:r>
              <a:rPr sz="1700" b="0" i="0">
                <a:solidFill>
                  <a:srgbClr val="0A2540"/>
                </a:solidFill>
                <a:latin typeface="Roboto"/>
              </a:rPr>
              <a:t>No anatomical collision avoidance in the final build</a:t>
            </a:r>
          </a:p>
        </p:txBody>
      </p:sp>
      <p:sp>
        <p:nvSpPr>
          <p:cNvPr id="12" name="Oval 11"/>
          <p:cNvSpPr/>
          <p:nvPr/>
        </p:nvSpPr>
        <p:spPr>
          <a:xfrm>
            <a:off x="548640" y="4178808"/>
            <a:ext cx="384048" cy="384048"/>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rPr>
              <a:t>◐</a:t>
            </a:r>
          </a:p>
        </p:txBody>
      </p:sp>
      <p:sp>
        <p:nvSpPr>
          <p:cNvPr id="13" name="TextBox 12"/>
          <p:cNvSpPr txBox="1"/>
          <p:nvPr/>
        </p:nvSpPr>
        <p:spPr>
          <a:xfrm>
            <a:off x="1143000" y="4151376"/>
            <a:ext cx="9875520" cy="548640"/>
          </a:xfrm>
          <a:prstGeom prst="rect">
            <a:avLst/>
          </a:prstGeom>
          <a:noFill/>
        </p:spPr>
        <p:txBody>
          <a:bodyPr wrap="square" anchor="t">
            <a:spAutoFit/>
          </a:bodyPr>
          <a:lstStyle/>
          <a:p>
            <a:pPr algn="l">
              <a:lnSpc>
                <a:spcPct val="100000"/>
              </a:lnSpc>
            </a:pPr>
            <a:r>
              <a:rPr sz="1700" b="0" i="0">
                <a:solidFill>
                  <a:srgbClr val="0A2540"/>
                </a:solidFill>
                <a:latin typeface="Roboto"/>
              </a:rPr>
              <a:t>Purely kinematic — no dynamics, no force control</a:t>
            </a:r>
          </a:p>
        </p:txBody>
      </p:sp>
      <p:sp>
        <p:nvSpPr>
          <p:cNvPr id="14" name="Oval 13"/>
          <p:cNvSpPr/>
          <p:nvPr/>
        </p:nvSpPr>
        <p:spPr>
          <a:xfrm>
            <a:off x="548640" y="4892040"/>
            <a:ext cx="384048" cy="384048"/>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rPr>
              <a:t>◐</a:t>
            </a:r>
          </a:p>
        </p:txBody>
      </p:sp>
      <p:sp>
        <p:nvSpPr>
          <p:cNvPr id="15" name="TextBox 14"/>
          <p:cNvSpPr txBox="1"/>
          <p:nvPr/>
        </p:nvSpPr>
        <p:spPr>
          <a:xfrm>
            <a:off x="1143000" y="4864608"/>
            <a:ext cx="9875520" cy="548640"/>
          </a:xfrm>
          <a:prstGeom prst="rect">
            <a:avLst/>
          </a:prstGeom>
          <a:noFill/>
        </p:spPr>
        <p:txBody>
          <a:bodyPr wrap="square" anchor="t">
            <a:spAutoFit/>
          </a:bodyPr>
          <a:lstStyle/>
          <a:p>
            <a:pPr algn="l">
              <a:lnSpc>
                <a:spcPct val="100000"/>
              </a:lnSpc>
            </a:pPr>
            <a:r>
              <a:rPr sz="1700" b="0" i="0">
                <a:solidFill>
                  <a:srgbClr val="0A2540"/>
                </a:solidFill>
                <a:latin typeface="Roboto"/>
              </a:rPr>
              <a:t>Jacobians computed numerically, not symbolically</a:t>
            </a:r>
          </a:p>
        </p:txBody>
      </p:sp>
      <p:sp>
        <p:nvSpPr>
          <p:cNvPr id="16" name="TextBox 15"/>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5B6B7F"/>
                </a:solidFill>
                <a:latin typeface="Montserrat"/>
              </a:rPr>
              <a:t>SCOPE</a:t>
            </a:r>
          </a:p>
        </p:txBody>
      </p:sp>
      <p:sp>
        <p:nvSpPr>
          <p:cNvPr id="17" name="TextBox 16"/>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5B6B7F"/>
                </a:solidFill>
                <a:latin typeface="Montserrat"/>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058400" cy="320040"/>
          </a:xfrm>
          <a:prstGeom prst="rect">
            <a:avLst/>
          </a:prstGeom>
          <a:noFill/>
        </p:spPr>
        <p:txBody>
          <a:bodyPr wrap="square" anchor="t">
            <a:spAutoFit/>
          </a:bodyPr>
          <a:lstStyle/>
          <a:p>
            <a:pPr algn="l">
              <a:lnSpc>
                <a:spcPct val="100000"/>
              </a:lnSpc>
            </a:pPr>
            <a:r>
              <a:rPr sz="1200" b="1" i="0">
                <a:solidFill>
                  <a:srgbClr val="5EEAD4"/>
                </a:solidFill>
                <a:latin typeface="Montserrat"/>
              </a:rPr>
              <a:t>15 — OUTLOOK</a:t>
            </a:r>
          </a:p>
        </p:txBody>
      </p:sp>
      <p:sp>
        <p:nvSpPr>
          <p:cNvPr id="4" name="TextBox 3"/>
          <p:cNvSpPr txBox="1"/>
          <p:nvPr/>
        </p:nvSpPr>
        <p:spPr>
          <a:xfrm>
            <a:off x="548640" y="713232"/>
            <a:ext cx="11064240" cy="822960"/>
          </a:xfrm>
          <a:prstGeom prst="rect">
            <a:avLst/>
          </a:prstGeom>
          <a:noFill/>
        </p:spPr>
        <p:txBody>
          <a:bodyPr wrap="square" anchor="t">
            <a:spAutoFit/>
          </a:bodyPr>
          <a:lstStyle/>
          <a:p>
            <a:pPr algn="l">
              <a:lnSpc>
                <a:spcPct val="100000"/>
              </a:lnSpc>
            </a:pPr>
            <a:r>
              <a:rPr sz="3400" b="1" i="0">
                <a:solidFill>
                  <a:srgbClr val="F7FAFC"/>
                </a:solidFill>
                <a:latin typeface="Montserrat"/>
              </a:rPr>
              <a:t>What's Next</a:t>
            </a:r>
          </a:p>
        </p:txBody>
      </p:sp>
      <p:sp>
        <p:nvSpPr>
          <p:cNvPr id="5" name="Rectangle 4"/>
          <p:cNvSpPr/>
          <p:nvPr/>
        </p:nvSpPr>
        <p:spPr>
          <a:xfrm>
            <a:off x="548640" y="1417320"/>
            <a:ext cx="502920"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3735324"/>
            <a:ext cx="10552176" cy="27432"/>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2148839"/>
            <a:ext cx="384048" cy="384048"/>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0A2540"/>
                </a:solidFill>
              </a:rPr>
              <a:t>1</a:t>
            </a:r>
          </a:p>
        </p:txBody>
      </p:sp>
      <p:sp>
        <p:nvSpPr>
          <p:cNvPr id="8" name="Rounded Rectangle 7"/>
          <p:cNvSpPr/>
          <p:nvPr/>
        </p:nvSpPr>
        <p:spPr>
          <a:xfrm>
            <a:off x="548640" y="2651760"/>
            <a:ext cx="2542032" cy="219456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26079"/>
            <a:ext cx="2176272" cy="1463040"/>
          </a:xfrm>
          <a:prstGeom prst="rect">
            <a:avLst/>
          </a:prstGeom>
          <a:noFill/>
        </p:spPr>
        <p:txBody>
          <a:bodyPr wrap="square" anchor="t">
            <a:spAutoFit/>
          </a:bodyPr>
          <a:lstStyle/>
          <a:p>
            <a:pPr algn="l">
              <a:lnSpc>
                <a:spcPct val="125000"/>
              </a:lnSpc>
            </a:pPr>
            <a:r>
              <a:rPr sz="1400" b="0" i="0">
                <a:solidFill>
                  <a:srgbClr val="DCE6F2"/>
                </a:solidFill>
                <a:latin typeface="Roboto"/>
              </a:rPr>
              <a:t>Analytic Jacobian</a:t>
            </a:r>
            <a:br/>
            <a:r>
              <a:t>(replace finite differences)</a:t>
            </a:r>
          </a:p>
        </p:txBody>
      </p:sp>
      <p:sp>
        <p:nvSpPr>
          <p:cNvPr id="10" name="Oval 9"/>
          <p:cNvSpPr/>
          <p:nvPr/>
        </p:nvSpPr>
        <p:spPr>
          <a:xfrm>
            <a:off x="3346703" y="2148839"/>
            <a:ext cx="384048" cy="384048"/>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0A2540"/>
                </a:solidFill>
              </a:rPr>
              <a:t>2</a:t>
            </a:r>
          </a:p>
        </p:txBody>
      </p:sp>
      <p:sp>
        <p:nvSpPr>
          <p:cNvPr id="11" name="Rounded Rectangle 10"/>
          <p:cNvSpPr/>
          <p:nvPr/>
        </p:nvSpPr>
        <p:spPr>
          <a:xfrm>
            <a:off x="3346703" y="2651760"/>
            <a:ext cx="2542032" cy="219456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9584" y="2926079"/>
            <a:ext cx="2176272" cy="1463040"/>
          </a:xfrm>
          <a:prstGeom prst="rect">
            <a:avLst/>
          </a:prstGeom>
          <a:noFill/>
        </p:spPr>
        <p:txBody>
          <a:bodyPr wrap="square" anchor="t">
            <a:spAutoFit/>
          </a:bodyPr>
          <a:lstStyle/>
          <a:p>
            <a:pPr algn="l">
              <a:lnSpc>
                <a:spcPct val="125000"/>
              </a:lnSpc>
            </a:pPr>
            <a:r>
              <a:rPr sz="1400" b="0" i="0">
                <a:solidFill>
                  <a:srgbClr val="DCE6F2"/>
                </a:solidFill>
                <a:latin typeface="Roboto"/>
              </a:rPr>
              <a:t>Re-introduce anatomy as a</a:t>
            </a:r>
            <a:br/>
            <a:r>
              <a:t>separate validation layer</a:t>
            </a:r>
          </a:p>
        </p:txBody>
      </p:sp>
      <p:sp>
        <p:nvSpPr>
          <p:cNvPr id="13" name="Oval 12"/>
          <p:cNvSpPr/>
          <p:nvPr/>
        </p:nvSpPr>
        <p:spPr>
          <a:xfrm>
            <a:off x="6144767" y="2148839"/>
            <a:ext cx="384048" cy="384048"/>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0A2540"/>
                </a:solidFill>
              </a:rPr>
              <a:t>3</a:t>
            </a:r>
          </a:p>
        </p:txBody>
      </p:sp>
      <p:sp>
        <p:nvSpPr>
          <p:cNvPr id="14" name="Rounded Rectangle 13"/>
          <p:cNvSpPr/>
          <p:nvPr/>
        </p:nvSpPr>
        <p:spPr>
          <a:xfrm>
            <a:off x="6144767" y="2651760"/>
            <a:ext cx="2542032" cy="219456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7" y="2926079"/>
            <a:ext cx="2176272" cy="1463040"/>
          </a:xfrm>
          <a:prstGeom prst="rect">
            <a:avLst/>
          </a:prstGeom>
          <a:noFill/>
        </p:spPr>
        <p:txBody>
          <a:bodyPr wrap="square" anchor="t">
            <a:spAutoFit/>
          </a:bodyPr>
          <a:lstStyle/>
          <a:p>
            <a:pPr algn="l">
              <a:lnSpc>
                <a:spcPct val="125000"/>
              </a:lnSpc>
            </a:pPr>
            <a:r>
              <a:rPr sz="1400" b="0" i="0">
                <a:solidFill>
                  <a:srgbClr val="DCE6F2"/>
                </a:solidFill>
                <a:latin typeface="Roboto"/>
              </a:rPr>
              <a:t>Real ROSA DH parameters,</a:t>
            </a:r>
            <a:br/>
            <a:r>
              <a:t>if available</a:t>
            </a:r>
          </a:p>
        </p:txBody>
      </p:sp>
      <p:sp>
        <p:nvSpPr>
          <p:cNvPr id="16" name="Oval 15"/>
          <p:cNvSpPr/>
          <p:nvPr/>
        </p:nvSpPr>
        <p:spPr>
          <a:xfrm>
            <a:off x="8942832" y="2148839"/>
            <a:ext cx="384048" cy="384048"/>
          </a:xfrm>
          <a:prstGeom prst="ellipse">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0A2540"/>
                </a:solidFill>
              </a:rPr>
              <a:t>4</a:t>
            </a:r>
          </a:p>
        </p:txBody>
      </p:sp>
      <p:sp>
        <p:nvSpPr>
          <p:cNvPr id="17" name="Rounded Rectangle 16"/>
          <p:cNvSpPr/>
          <p:nvPr/>
        </p:nvSpPr>
        <p:spPr>
          <a:xfrm>
            <a:off x="8942832" y="2651760"/>
            <a:ext cx="2542032" cy="2194560"/>
          </a:xfrm>
          <a:prstGeom prst="roundRect">
            <a:avLst>
              <a:gd name="adj" fmla="val 12000"/>
            </a:avLst>
          </a:prstGeom>
          <a:solidFill>
            <a:srgbClr val="12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5711" y="2926079"/>
            <a:ext cx="2176272" cy="1463040"/>
          </a:xfrm>
          <a:prstGeom prst="rect">
            <a:avLst/>
          </a:prstGeom>
          <a:noFill/>
        </p:spPr>
        <p:txBody>
          <a:bodyPr wrap="square" anchor="t">
            <a:spAutoFit/>
          </a:bodyPr>
          <a:lstStyle/>
          <a:p>
            <a:pPr algn="l">
              <a:lnSpc>
                <a:spcPct val="125000"/>
              </a:lnSpc>
            </a:pPr>
            <a:r>
              <a:rPr sz="1400" b="0" i="0">
                <a:solidFill>
                  <a:srgbClr val="DCE6F2"/>
                </a:solidFill>
                <a:latin typeface="Roboto"/>
              </a:rPr>
              <a:t>Randomized multi-trial</a:t>
            </a:r>
            <a:br/>
            <a:r>
              <a:t>validation</a:t>
            </a:r>
          </a:p>
        </p:txBody>
      </p:sp>
      <p:sp>
        <p:nvSpPr>
          <p:cNvPr id="19" name="TextBox 18"/>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DCE6F2"/>
                </a:solidFill>
                <a:latin typeface="Montserrat"/>
              </a:rPr>
              <a:t>OUTLOOK</a:t>
            </a:r>
          </a:p>
        </p:txBody>
      </p:sp>
      <p:sp>
        <p:nvSpPr>
          <p:cNvPr id="20" name="TextBox 19"/>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DCE6F2"/>
                </a:solidFill>
                <a:latin typeface="Montserrat"/>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920240"/>
            <a:ext cx="10058400" cy="365760"/>
          </a:xfrm>
          <a:prstGeom prst="rect">
            <a:avLst/>
          </a:prstGeom>
          <a:noFill/>
        </p:spPr>
        <p:txBody>
          <a:bodyPr wrap="square" anchor="t">
            <a:spAutoFit/>
          </a:bodyPr>
          <a:lstStyle/>
          <a:p>
            <a:pPr algn="l">
              <a:lnSpc>
                <a:spcPct val="100000"/>
              </a:lnSpc>
            </a:pPr>
            <a:r>
              <a:rPr sz="1300" b="1" i="0">
                <a:solidFill>
                  <a:srgbClr val="17C3B2"/>
                </a:solidFill>
                <a:latin typeface="Montserrat"/>
              </a:rPr>
              <a:t>CONCLUSION</a:t>
            </a:r>
          </a:p>
        </p:txBody>
      </p:sp>
      <p:sp>
        <p:nvSpPr>
          <p:cNvPr id="4" name="TextBox 3"/>
          <p:cNvSpPr txBox="1"/>
          <p:nvPr/>
        </p:nvSpPr>
        <p:spPr>
          <a:xfrm>
            <a:off x="548640" y="2331720"/>
            <a:ext cx="10241280" cy="1280160"/>
          </a:xfrm>
          <a:prstGeom prst="rect">
            <a:avLst/>
          </a:prstGeom>
          <a:noFill/>
        </p:spPr>
        <p:txBody>
          <a:bodyPr wrap="square" anchor="t">
            <a:spAutoFit/>
          </a:bodyPr>
          <a:lstStyle/>
          <a:p>
            <a:pPr algn="l">
              <a:lnSpc>
                <a:spcPct val="110000"/>
              </a:lnSpc>
            </a:pPr>
            <a:r>
              <a:rPr sz="3600" b="1" i="0">
                <a:solidFill>
                  <a:srgbClr val="F7FAFC"/>
                </a:solidFill>
                <a:latin typeface="Montserrat"/>
              </a:rPr>
              <a:t>A Validated Double-RCM Controller,</a:t>
            </a:r>
            <a:br/>
            <a:r>
              <a:t>Honestly Scoped</a:t>
            </a:r>
          </a:p>
        </p:txBody>
      </p:sp>
      <p:sp>
        <p:nvSpPr>
          <p:cNvPr id="5" name="Rectangle 4"/>
          <p:cNvSpPr/>
          <p:nvPr/>
        </p:nvSpPr>
        <p:spPr>
          <a:xfrm>
            <a:off x="548640" y="3657600"/>
            <a:ext cx="64008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886200"/>
            <a:ext cx="9601200" cy="1097280"/>
          </a:xfrm>
          <a:prstGeom prst="rect">
            <a:avLst/>
          </a:prstGeom>
          <a:noFill/>
        </p:spPr>
        <p:txBody>
          <a:bodyPr wrap="square" anchor="t">
            <a:spAutoFit/>
          </a:bodyPr>
          <a:lstStyle/>
          <a:p>
            <a:pPr algn="l">
              <a:lnSpc>
                <a:spcPct val="135000"/>
              </a:lnSpc>
            </a:pPr>
            <a:r>
              <a:rPr sz="1700" b="0" i="0">
                <a:solidFill>
                  <a:srgbClr val="DCE6F2"/>
                </a:solidFill>
                <a:latin typeface="Roboto"/>
              </a:rPr>
              <a:t>Four tasks. One controller built from scratch. Nine of nine checks passed.</a:t>
            </a:r>
            <a:br/>
            <a:r>
              <a:t>Anatomy deliberately left out to keep the focus on the RCM formulation.</a:t>
            </a:r>
          </a:p>
        </p:txBody>
      </p:sp>
      <p:sp>
        <p:nvSpPr>
          <p:cNvPr id="7" name="TextBox 6"/>
          <p:cNvSpPr txBox="1"/>
          <p:nvPr/>
        </p:nvSpPr>
        <p:spPr>
          <a:xfrm>
            <a:off x="548640" y="5212080"/>
            <a:ext cx="9601200" cy="548640"/>
          </a:xfrm>
          <a:prstGeom prst="rect">
            <a:avLst/>
          </a:prstGeom>
          <a:noFill/>
        </p:spPr>
        <p:txBody>
          <a:bodyPr wrap="square" anchor="t">
            <a:spAutoFit/>
          </a:bodyPr>
          <a:lstStyle/>
          <a:p>
            <a:pPr algn="l">
              <a:lnSpc>
                <a:spcPct val="100000"/>
              </a:lnSpc>
            </a:pPr>
            <a:r>
              <a:rPr sz="2000" b="1" i="0">
                <a:solidFill>
                  <a:srgbClr val="5EEAD4"/>
                </a:solidFill>
                <a:latin typeface="Montserrat"/>
              </a:rPr>
              <a:t>Thank you — questions welcome.</a:t>
            </a:r>
          </a:p>
        </p:txBody>
      </p:sp>
      <p:sp>
        <p:nvSpPr>
          <p:cNvPr id="8" name="TextBox 7"/>
          <p:cNvSpPr txBox="1"/>
          <p:nvPr/>
        </p:nvSpPr>
        <p:spPr>
          <a:xfrm>
            <a:off x="548640" y="6446520"/>
            <a:ext cx="5486400" cy="274320"/>
          </a:xfrm>
          <a:prstGeom prst="rect">
            <a:avLst/>
          </a:prstGeom>
          <a:noFill/>
        </p:spPr>
        <p:txBody>
          <a:bodyPr wrap="square" anchor="t">
            <a:spAutoFit/>
          </a:bodyPr>
          <a:lstStyle/>
          <a:p>
            <a:pPr algn="l">
              <a:lnSpc>
                <a:spcPct val="100000"/>
              </a:lnSpc>
            </a:pPr>
            <a:r>
              <a:rPr sz="900" b="0" i="0">
                <a:solidFill>
                  <a:srgbClr val="DCE6F2"/>
                </a:solidFill>
                <a:latin typeface="Montserrat"/>
              </a:rPr>
              <a:t>CONCLUSION</a:t>
            </a:r>
          </a:p>
        </p:txBody>
      </p:sp>
      <p:sp>
        <p:nvSpPr>
          <p:cNvPr id="9" name="TextBox 8"/>
          <p:cNvSpPr txBox="1"/>
          <p:nvPr/>
        </p:nvSpPr>
        <p:spPr>
          <a:xfrm>
            <a:off x="10271455" y="6446520"/>
            <a:ext cx="1371600" cy="274320"/>
          </a:xfrm>
          <a:prstGeom prst="rect">
            <a:avLst/>
          </a:prstGeom>
          <a:noFill/>
        </p:spPr>
        <p:txBody>
          <a:bodyPr wrap="square" anchor="t">
            <a:spAutoFit/>
          </a:bodyPr>
          <a:lstStyle/>
          <a:p>
            <a:pPr algn="r">
              <a:lnSpc>
                <a:spcPct val="100000"/>
              </a:lnSpc>
            </a:pPr>
            <a:r>
              <a:rPr sz="900" b="0" i="0">
                <a:solidFill>
                  <a:srgbClr val="DCE6F2"/>
                </a:solidFill>
                <a:latin typeface="Montserrat"/>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